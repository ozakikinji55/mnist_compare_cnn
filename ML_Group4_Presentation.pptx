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D5EC"/>
          </a:solidFill>
        </a:fill>
      </a:tcStyle>
    </a:wholeTbl>
    <a:band2H>
      <a:tcTxStyle b="def" i="def"/>
      <a:tcStyle>
        <a:tcBdr/>
        <a:fill>
          <a:solidFill>
            <a:srgbClr val="E8EBF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AE6CA"/>
          </a:solidFill>
        </a:fill>
      </a:tcStyle>
    </a:wholeTbl>
    <a:band2H>
      <a:tcTxStyle b="def" i="def"/>
      <a:tcStyle>
        <a:tcBdr/>
        <a:fill>
          <a:solidFill>
            <a:srgbClr val="FCF3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CED1"/>
          </a:solidFill>
        </a:fill>
      </a:tcStyle>
    </a:wholeTbl>
    <a:band2H>
      <a:tcTxStyle b="def" i="def"/>
      <a:tcStyle>
        <a:tcBdr/>
        <a:fill>
          <a:solidFill>
            <a:srgbClr val="FAE8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4" name="Shape 24"/>
          <p:cNvSpPr/>
          <p:nvPr>
            <p:ph type="sldImg"/>
          </p:nvPr>
        </p:nvSpPr>
        <p:spPr>
          <a:xfrm>
            <a:off x="1143000" y="685800"/>
            <a:ext cx="4572000" cy="3429000"/>
          </a:xfrm>
          <a:prstGeom prst="rect">
            <a:avLst/>
          </a:prstGeom>
        </p:spPr>
        <p:txBody>
          <a:bodyPr/>
          <a:lstStyle/>
          <a:p>
            <a:pPr/>
          </a:p>
        </p:txBody>
      </p:sp>
      <p:sp>
        <p:nvSpPr>
          <p:cNvPr id="25" name="Shape 2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等线"/>
      </a:defRPr>
    </a:lvl1pPr>
    <a:lvl2pPr indent="228600" latinLnBrk="0">
      <a:defRPr sz="1200">
        <a:latin typeface="+mn-lt"/>
        <a:ea typeface="+mn-ea"/>
        <a:cs typeface="+mn-cs"/>
        <a:sym typeface="等线"/>
      </a:defRPr>
    </a:lvl2pPr>
    <a:lvl3pPr indent="457200" latinLnBrk="0">
      <a:defRPr sz="1200">
        <a:latin typeface="+mn-lt"/>
        <a:ea typeface="+mn-ea"/>
        <a:cs typeface="+mn-cs"/>
        <a:sym typeface="等线"/>
      </a:defRPr>
    </a:lvl3pPr>
    <a:lvl4pPr indent="685800" latinLnBrk="0">
      <a:defRPr sz="1200">
        <a:latin typeface="+mn-lt"/>
        <a:ea typeface="+mn-ea"/>
        <a:cs typeface="+mn-cs"/>
        <a:sym typeface="等线"/>
      </a:defRPr>
    </a:lvl4pPr>
    <a:lvl5pPr indent="914400" latinLnBrk="0">
      <a:defRPr sz="1200">
        <a:latin typeface="+mn-lt"/>
        <a:ea typeface="+mn-ea"/>
        <a:cs typeface="+mn-cs"/>
        <a:sym typeface="等线"/>
      </a:defRPr>
    </a:lvl5pPr>
    <a:lvl6pPr indent="1143000" latinLnBrk="0">
      <a:defRPr sz="1200">
        <a:latin typeface="+mn-lt"/>
        <a:ea typeface="+mn-ea"/>
        <a:cs typeface="+mn-cs"/>
        <a:sym typeface="等线"/>
      </a:defRPr>
    </a:lvl6pPr>
    <a:lvl7pPr indent="1371600" latinLnBrk="0">
      <a:defRPr sz="1200">
        <a:latin typeface="+mn-lt"/>
        <a:ea typeface="+mn-ea"/>
        <a:cs typeface="+mn-cs"/>
        <a:sym typeface="等线"/>
      </a:defRPr>
    </a:lvl7pPr>
    <a:lvl8pPr indent="1600200" latinLnBrk="0">
      <a:defRPr sz="1200">
        <a:latin typeface="+mn-lt"/>
        <a:ea typeface="+mn-ea"/>
        <a:cs typeface="+mn-cs"/>
        <a:sym typeface="等线"/>
      </a:defRPr>
    </a:lvl8pPr>
    <a:lvl9pPr indent="1828800" latinLnBrk="0">
      <a:defRPr sz="1200">
        <a:latin typeface="+mn-lt"/>
        <a:ea typeface="+mn-ea"/>
        <a:cs typeface="+mn-cs"/>
        <a:sym typeface="等线"/>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PTIST_MASTER">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78981" y="6232199"/>
            <a:ext cx="258620" cy="248302"/>
          </a:xfrm>
          <a:prstGeom prst="rect">
            <a:avLst/>
          </a:prstGeom>
          <a:ln w="12700">
            <a:miter lim="400000"/>
          </a:ln>
        </p:spPr>
        <p:txBody>
          <a:bodyPr wrap="none" lIns="45718" tIns="45718" rIns="45718" bIns="45718" anchor="ctr">
            <a:spAutoFit/>
          </a:bodyPr>
          <a:lstStyle>
            <a:lvl1pPr algn="r">
              <a:defRPr sz="1200">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2.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2.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3.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9.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10.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11.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jpeg"/><Relationship Id="rId6" Type="http://schemas.openxmlformats.org/officeDocument/2006/relationships/image" Target="../media/image2.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jpeg"/><Relationship Id="rId6" Type="http://schemas.openxmlformats.org/officeDocument/2006/relationships/image" Target="../media/image2.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2.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13.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14.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15.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16.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17.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18.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19.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0.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1.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2.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3.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4.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25.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jpeg"/><Relationship Id="rId6" Type="http://schemas.openxmlformats.org/officeDocument/2006/relationships/image" Target="../media/image2.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jpeg"/><Relationship Id="rId6" Type="http://schemas.openxmlformats.org/officeDocument/2006/relationships/image" Target="../media/image2.png"/></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6.png"/><Relationship Id="rId4" Type="http://schemas.openxmlformats.org/officeDocument/2006/relationships/image" Target="../media/image2.png"/><Relationship Id="rId5" Type="http://schemas.openxmlformats.org/officeDocument/2006/relationships/image" Target="../media/image3.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7.png"/><Relationship Id="rId4" Type="http://schemas.openxmlformats.org/officeDocument/2006/relationships/image" Target="../media/image1.png"/></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3.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7" name="Image 0" descr="Image 0"/>
          <p:cNvPicPr>
            <a:picLocks noChangeAspect="1"/>
          </p:cNvPicPr>
          <p:nvPr/>
        </p:nvPicPr>
        <p:blipFill>
          <a:blip r:embed="rId2">
            <a:extLst/>
          </a:blip>
          <a:srcRect l="0" t="83" r="0" b="80"/>
          <a:stretch>
            <a:fillRect/>
          </a:stretch>
        </p:blipFill>
        <p:spPr>
          <a:xfrm>
            <a:off x="0" y="-5"/>
            <a:ext cx="12192000" cy="6858009"/>
          </a:xfrm>
          <a:prstGeom prst="rect">
            <a:avLst/>
          </a:prstGeom>
          <a:ln w="12700">
            <a:miter lim="400000"/>
          </a:ln>
        </p:spPr>
      </p:pic>
      <p:pic>
        <p:nvPicPr>
          <p:cNvPr id="28" name="Image 1" descr="Image 1"/>
          <p:cNvPicPr>
            <a:picLocks noChangeAspect="1"/>
          </p:cNvPicPr>
          <p:nvPr/>
        </p:nvPicPr>
        <p:blipFill>
          <a:blip r:embed="rId3">
            <a:extLst/>
          </a:blip>
          <a:srcRect l="11" t="0" r="11" b="0"/>
          <a:stretch>
            <a:fillRect/>
          </a:stretch>
        </p:blipFill>
        <p:spPr>
          <a:xfrm>
            <a:off x="5560057" y="655319"/>
            <a:ext cx="6177921" cy="5547999"/>
          </a:xfrm>
          <a:prstGeom prst="rect">
            <a:avLst/>
          </a:prstGeom>
          <a:ln w="12700">
            <a:miter lim="400000"/>
          </a:ln>
        </p:spPr>
      </p:pic>
      <p:sp>
        <p:nvSpPr>
          <p:cNvPr id="29" name="Text 2"/>
          <p:cNvSpPr txBox="1"/>
          <p:nvPr/>
        </p:nvSpPr>
        <p:spPr>
          <a:xfrm>
            <a:off x="811530" y="5885815"/>
            <a:ext cx="2585089"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90000"/>
              </a:lnSpc>
              <a:defRPr sz="1600">
                <a:solidFill>
                  <a:srgbClr val="052334"/>
                </a:solidFill>
                <a:latin typeface="MiSans"/>
                <a:ea typeface="MiSans"/>
                <a:cs typeface="MiSans"/>
                <a:sym typeface="MiSans"/>
              </a:defRPr>
            </a:lvl1pPr>
          </a:lstStyle>
          <a:p>
            <a:pPr/>
            <a:r>
              <a:t>Presentation Time：2025/10</a:t>
            </a:r>
          </a:p>
        </p:txBody>
      </p:sp>
      <p:sp>
        <p:nvSpPr>
          <p:cNvPr id="30" name="Shape 3"/>
          <p:cNvSpPr/>
          <p:nvPr/>
        </p:nvSpPr>
        <p:spPr>
          <a:xfrm>
            <a:off x="11241309" y="5912741"/>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1" name="Shape 5"/>
          <p:cNvSpPr/>
          <p:nvPr/>
        </p:nvSpPr>
        <p:spPr>
          <a:xfrm>
            <a:off x="11241309" y="600971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2" name="Shape 7"/>
          <p:cNvSpPr/>
          <p:nvPr/>
        </p:nvSpPr>
        <p:spPr>
          <a:xfrm>
            <a:off x="11241309" y="6106688"/>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3" name="Shape 9"/>
          <p:cNvSpPr/>
          <p:nvPr/>
        </p:nvSpPr>
        <p:spPr>
          <a:xfrm flipV="1">
            <a:off x="869235" y="3090252"/>
            <a:ext cx="4" cy="2259339"/>
          </a:xfrm>
          <a:prstGeom prst="line">
            <a:avLst/>
          </a:prstGeom>
          <a:ln>
            <a:solidFill>
              <a:srgbClr val="000000">
                <a:alpha val="21961"/>
              </a:srgbClr>
            </a:solidFill>
          </a:ln>
        </p:spPr>
        <p:txBody>
          <a:bodyPr lIns="45718" tIns="45718" rIns="45718" bIns="45718"/>
          <a:lstStyle/>
          <a:p>
            <a:pPr/>
          </a:p>
        </p:txBody>
      </p:sp>
      <p:sp>
        <p:nvSpPr>
          <p:cNvPr id="34" name="Text 10"/>
          <p:cNvSpPr txBox="1"/>
          <p:nvPr/>
        </p:nvSpPr>
        <p:spPr>
          <a:xfrm>
            <a:off x="672464" y="1553210"/>
            <a:ext cx="11019791" cy="21107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400">
                <a:solidFill>
                  <a:srgbClr val="052334"/>
                </a:solidFill>
                <a:latin typeface="MiSans"/>
                <a:ea typeface="MiSans"/>
                <a:cs typeface="MiSans"/>
                <a:sym typeface="MiSans"/>
              </a:defRPr>
            </a:lvl1pPr>
          </a:lstStyle>
          <a:p>
            <a:pPr/>
            <a:r>
              <a:t>MNIST pairwise comparison classification system based on residual networks and mixed-precision training</a:t>
            </a:r>
          </a:p>
        </p:txBody>
      </p:sp>
      <p:pic>
        <p:nvPicPr>
          <p:cNvPr id="35" name="Image 2" descr="Image 2"/>
          <p:cNvPicPr>
            <a:picLocks noChangeAspect="1"/>
          </p:cNvPicPr>
          <p:nvPr/>
        </p:nvPicPr>
        <p:blipFill>
          <a:blip r:embed="rId4">
            <a:extLst/>
          </a:blip>
          <a:srcRect l="38935" t="0" r="0" b="0"/>
          <a:stretch>
            <a:fillRect/>
          </a:stretch>
        </p:blipFill>
        <p:spPr>
          <a:xfrm>
            <a:off x="-1" y="5600700"/>
            <a:ext cx="604537" cy="988692"/>
          </a:xfrm>
          <a:prstGeom prst="rect">
            <a:avLst/>
          </a:prstGeom>
          <a:ln w="12700">
            <a:miter lim="400000"/>
          </a:ln>
        </p:spPr>
      </p:pic>
      <p:pic>
        <p:nvPicPr>
          <p:cNvPr id="36" name="Image 3" descr="Image 3"/>
          <p:cNvPicPr>
            <a:picLocks noChangeAspect="1"/>
          </p:cNvPicPr>
          <p:nvPr/>
        </p:nvPicPr>
        <p:blipFill>
          <a:blip r:embed="rId5">
            <a:extLst/>
          </a:blip>
          <a:srcRect l="0" t="573" r="0" b="571"/>
          <a:stretch>
            <a:fillRect/>
          </a:stretch>
        </p:blipFill>
        <p:spPr>
          <a:xfrm>
            <a:off x="0" y="-5"/>
            <a:ext cx="276860" cy="1766578"/>
          </a:xfrm>
          <a:prstGeom prst="rect">
            <a:avLst/>
          </a:prstGeom>
          <a:ln w="12700">
            <a:miter lim="400000"/>
          </a:ln>
        </p:spPr>
      </p:pic>
      <p:pic>
        <p:nvPicPr>
          <p:cNvPr id="37" name="Image 4" descr="Image 4"/>
          <p:cNvPicPr>
            <a:picLocks noChangeAspect="1"/>
          </p:cNvPicPr>
          <p:nvPr/>
        </p:nvPicPr>
        <p:blipFill>
          <a:blip r:embed="rId5">
            <a:extLst/>
          </a:blip>
          <a:srcRect l="0" t="573" r="0" b="571"/>
          <a:stretch>
            <a:fillRect/>
          </a:stretch>
        </p:blipFill>
        <p:spPr>
          <a:xfrm>
            <a:off x="11915140" y="5084445"/>
            <a:ext cx="276867" cy="1766577"/>
          </a:xfrm>
          <a:prstGeom prst="rect">
            <a:avLst/>
          </a:prstGeom>
          <a:ln w="12700">
            <a:miter lim="400000"/>
          </a:ln>
        </p:spPr>
      </p:pic>
      <p:sp>
        <p:nvSpPr>
          <p:cNvPr id="38" name="-李松峪：Main Programming, Experiment Analysis, Debugging, Testing, Presentation…"/>
          <p:cNvSpPr txBox="1"/>
          <p:nvPr/>
        </p:nvSpPr>
        <p:spPr>
          <a:xfrm>
            <a:off x="796547" y="4351332"/>
            <a:ext cx="5626368" cy="4089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latin typeface="Calibri"/>
                <a:ea typeface="Calibri"/>
                <a:cs typeface="Calibri"/>
                <a:sym typeface="Calibri"/>
              </a:defRPr>
            </a:lvl1pPr>
          </a:lstStyle>
          <a:p>
            <a:pPr/>
            <a:r>
              <a:t>Team Leader and Primary Contributor: 李松峪(Songyu Li） </a:t>
            </a:r>
          </a:p>
        </p:txBody>
      </p:sp>
      <p:sp>
        <p:nvSpPr>
          <p:cNvPr id="39" name="-李松峪：Main Programming, Experiment Analysis, Debugging, Testing, Presentation…"/>
          <p:cNvSpPr txBox="1"/>
          <p:nvPr/>
        </p:nvSpPr>
        <p:spPr>
          <a:xfrm>
            <a:off x="916505" y="4976956"/>
            <a:ext cx="10358990" cy="4089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latin typeface="Calibri"/>
                <a:ea typeface="Calibri"/>
                <a:cs typeface="Calibri"/>
                <a:sym typeface="Calibri"/>
              </a:defRPr>
            </a:lvl1pPr>
          </a:lstStyle>
          <a:p>
            <a:pPr/>
            <a:r>
              <a:t>Other Contributors:  肖骋宇,徐浩博,李卓霖,马鸣禧,邓仁杰,刘科言,薛钰泷(PPT Making and Opinion Guiding)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1"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42"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43"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44"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5"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6"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7" name="Text 0"/>
          <p:cNvSpPr txBox="1"/>
          <p:nvPr/>
        </p:nvSpPr>
        <p:spPr>
          <a:xfrm>
            <a:off x="771207" y="986229"/>
            <a:ext cx="10649586"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Group Division</a:t>
            </a:r>
          </a:p>
        </p:txBody>
      </p:sp>
      <p:sp>
        <p:nvSpPr>
          <p:cNvPr id="48" name="-李松峪：Main Programming, Experiment Analysis, Debugging, Testing, Presentation…"/>
          <p:cNvSpPr txBox="1"/>
          <p:nvPr/>
        </p:nvSpPr>
        <p:spPr>
          <a:xfrm>
            <a:off x="667804" y="1977033"/>
            <a:ext cx="7999656" cy="2984606"/>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defRPr>
                <a:latin typeface="Calibri"/>
                <a:ea typeface="Calibri"/>
                <a:cs typeface="Calibri"/>
                <a:sym typeface="Calibri"/>
              </a:defRPr>
            </a:pPr>
            <a:r>
              <a:t>-李松峪：Main Programming, Experiment Analysis, Debugging, Testing, Presentation</a:t>
            </a:r>
          </a:p>
          <a:p>
            <a:pPr>
              <a:defRPr>
                <a:latin typeface="Calibri"/>
                <a:ea typeface="Calibri"/>
                <a:cs typeface="Calibri"/>
                <a:sym typeface="Calibri"/>
              </a:defRPr>
            </a:pPr>
            <a:r>
              <a:t>-肖骋宇：PPT Preparation</a:t>
            </a:r>
          </a:p>
          <a:p>
            <a:pPr>
              <a:defRPr>
                <a:latin typeface="Calibri"/>
                <a:ea typeface="Calibri"/>
                <a:cs typeface="Calibri"/>
                <a:sym typeface="Calibri"/>
              </a:defRPr>
            </a:pPr>
            <a:r>
              <a:t>-徐浩博:  Ideal Providing</a:t>
            </a:r>
          </a:p>
          <a:p>
            <a:pPr>
              <a:defRPr>
                <a:latin typeface="Calibri"/>
                <a:ea typeface="Calibri"/>
                <a:cs typeface="Calibri"/>
                <a:sym typeface="Calibri"/>
              </a:defRPr>
            </a:pPr>
            <a:r>
              <a:t>-李卓霖: Opinion Guidance </a:t>
            </a:r>
          </a:p>
          <a:p>
            <a:pPr>
              <a:defRPr>
                <a:latin typeface="Calibri"/>
                <a:ea typeface="Calibri"/>
                <a:cs typeface="Calibri"/>
                <a:sym typeface="Calibri"/>
              </a:defRPr>
            </a:pPr>
            <a:r>
              <a:t>-马鸣禧: Opinion Guidance </a:t>
            </a:r>
          </a:p>
          <a:p>
            <a:pPr>
              <a:defRPr>
                <a:latin typeface="Calibri"/>
                <a:ea typeface="Calibri"/>
                <a:cs typeface="Calibri"/>
                <a:sym typeface="Calibri"/>
              </a:defRPr>
            </a:pPr>
            <a:r>
              <a:t>-邓仁杰: Opinion Guidance </a:t>
            </a:r>
          </a:p>
          <a:p>
            <a:pPr>
              <a:defRPr>
                <a:latin typeface="Calibri"/>
                <a:ea typeface="Calibri"/>
                <a:cs typeface="Calibri"/>
                <a:sym typeface="Calibri"/>
              </a:defRPr>
            </a:pPr>
            <a:r>
              <a:t>-刘科言: Opinion Guidance </a:t>
            </a:r>
          </a:p>
          <a:p>
            <a:pPr>
              <a:defRPr>
                <a:latin typeface="Calibri"/>
                <a:ea typeface="Calibri"/>
                <a:cs typeface="Calibri"/>
                <a:sym typeface="Calibri"/>
              </a:defRPr>
            </a:pPr>
            <a:r>
              <a:t>-薛钰泷: Opinion Guidance </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50" name="Image 0" descr="Image 0"/>
          <p:cNvPicPr>
            <a:picLocks noChangeAspect="1"/>
          </p:cNvPicPr>
          <p:nvPr/>
        </p:nvPicPr>
        <p:blipFill>
          <a:blip r:embed="rId3">
            <a:alphaModFix amt="50000"/>
            <a:extLst/>
          </a:blip>
          <a:srcRect l="6757" t="0" r="44799" b="0"/>
          <a:stretch>
            <a:fillRect/>
          </a:stretch>
        </p:blipFill>
        <p:spPr>
          <a:xfrm>
            <a:off x="3909059" y="941705"/>
            <a:ext cx="6842761" cy="4937760"/>
          </a:xfrm>
          <a:prstGeom prst="rect">
            <a:avLst/>
          </a:prstGeom>
          <a:ln w="12700">
            <a:miter lim="400000"/>
          </a:ln>
        </p:spPr>
      </p:pic>
      <p:pic>
        <p:nvPicPr>
          <p:cNvPr id="51" name="Image 1" descr="Image 1"/>
          <p:cNvPicPr>
            <a:picLocks noChangeAspect="1"/>
          </p:cNvPicPr>
          <p:nvPr/>
        </p:nvPicPr>
        <p:blipFill>
          <a:blip r:embed="rId4">
            <a:alphaModFix amt="40000"/>
            <a:extLst/>
          </a:blip>
          <a:stretch>
            <a:fillRect/>
          </a:stretch>
        </p:blipFill>
        <p:spPr>
          <a:xfrm flipV="1">
            <a:off x="10751818" y="428625"/>
            <a:ext cx="762007" cy="76200"/>
          </a:xfrm>
          <a:prstGeom prst="rect">
            <a:avLst/>
          </a:prstGeom>
          <a:ln w="12700">
            <a:miter lim="400000"/>
          </a:ln>
        </p:spPr>
      </p:pic>
      <p:pic>
        <p:nvPicPr>
          <p:cNvPr id="52" name="Image 2" descr="Image 2"/>
          <p:cNvPicPr>
            <a:picLocks noChangeAspect="1"/>
          </p:cNvPicPr>
          <p:nvPr/>
        </p:nvPicPr>
        <p:blipFill>
          <a:blip r:embed="rId4">
            <a:alphaModFix amt="40000"/>
            <a:extLst/>
          </a:blip>
          <a:stretch>
            <a:fillRect/>
          </a:stretch>
        </p:blipFill>
        <p:spPr>
          <a:xfrm flipV="1">
            <a:off x="10751818" y="559434"/>
            <a:ext cx="762007" cy="76207"/>
          </a:xfrm>
          <a:prstGeom prst="rect">
            <a:avLst/>
          </a:prstGeom>
          <a:ln w="12700">
            <a:miter lim="400000"/>
          </a:ln>
        </p:spPr>
      </p:pic>
      <p:sp>
        <p:nvSpPr>
          <p:cNvPr id="53" name="Shape 0"/>
          <p:cNvSpPr/>
          <p:nvPr/>
        </p:nvSpPr>
        <p:spPr>
          <a:xfrm>
            <a:off x="941703" y="941069"/>
            <a:ext cx="1073791" cy="800107"/>
          </a:xfrm>
          <a:prstGeom prst="rect">
            <a:avLst/>
          </a:prstGeom>
          <a:solidFill>
            <a:srgbClr val="000000">
              <a:alpha val="0"/>
            </a:srgbClr>
          </a:solidFill>
          <a:ln w="12700">
            <a:miter lim="400000"/>
          </a:ln>
        </p:spPr>
        <p:txBody>
          <a:bodyPr lIns="45718" tIns="45718" rIns="45718" bIns="45718"/>
          <a:lstStyle/>
          <a:p>
            <a:pPr>
              <a:defRPr>
                <a:latin typeface="Calibri"/>
                <a:ea typeface="Calibri"/>
                <a:cs typeface="Calibri"/>
                <a:sym typeface="Calibri"/>
              </a:defRPr>
            </a:pPr>
          </a:p>
        </p:txBody>
      </p:sp>
      <p:sp>
        <p:nvSpPr>
          <p:cNvPr id="54" name="Text 2"/>
          <p:cNvSpPr txBox="1"/>
          <p:nvPr/>
        </p:nvSpPr>
        <p:spPr>
          <a:xfrm rot="5400000">
            <a:off x="-510223" y="3428682"/>
            <a:ext cx="3877310" cy="736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800">
                <a:latin typeface="MiSans"/>
                <a:ea typeface="MiSans"/>
                <a:cs typeface="MiSans"/>
                <a:sym typeface="MiSans"/>
              </a:defRPr>
            </a:lvl1pPr>
          </a:lstStyle>
          <a:p>
            <a:pPr/>
            <a:r>
              <a:t>CONTENTS</a:t>
            </a:r>
          </a:p>
        </p:txBody>
      </p:sp>
      <p:pic>
        <p:nvPicPr>
          <p:cNvPr id="55" name="Image 3" descr="Image 3"/>
          <p:cNvPicPr>
            <a:picLocks noChangeAspect="1"/>
          </p:cNvPicPr>
          <p:nvPr/>
        </p:nvPicPr>
        <p:blipFill>
          <a:blip r:embed="rId5">
            <a:extLst/>
          </a:blip>
          <a:srcRect l="412" t="0" r="411" b="0"/>
          <a:stretch>
            <a:fillRect/>
          </a:stretch>
        </p:blipFill>
        <p:spPr>
          <a:xfrm flipH="1">
            <a:off x="2954653" y="1238885"/>
            <a:ext cx="1530353" cy="1543057"/>
          </a:xfrm>
          <a:prstGeom prst="rect">
            <a:avLst/>
          </a:prstGeom>
          <a:ln w="12700">
            <a:miter lim="400000"/>
          </a:ln>
        </p:spPr>
      </p:pic>
      <p:pic>
        <p:nvPicPr>
          <p:cNvPr id="56" name="Image 4" descr="Image 4"/>
          <p:cNvPicPr>
            <a:picLocks noChangeAspect="1"/>
          </p:cNvPicPr>
          <p:nvPr/>
        </p:nvPicPr>
        <p:blipFill>
          <a:blip r:embed="rId6">
            <a:extLst/>
          </a:blip>
          <a:srcRect l="0" t="491" r="0" b="486"/>
          <a:stretch>
            <a:fillRect/>
          </a:stretch>
        </p:blipFill>
        <p:spPr>
          <a:xfrm>
            <a:off x="9976484" y="931542"/>
            <a:ext cx="775342" cy="4947926"/>
          </a:xfrm>
          <a:prstGeom prst="rect">
            <a:avLst/>
          </a:prstGeom>
          <a:ln w="12700">
            <a:miter lim="400000"/>
          </a:ln>
        </p:spPr>
      </p:pic>
      <p:pic>
        <p:nvPicPr>
          <p:cNvPr id="57" name="Image 5" descr="Image 5"/>
          <p:cNvPicPr>
            <a:picLocks noChangeAspect="1"/>
          </p:cNvPicPr>
          <p:nvPr/>
        </p:nvPicPr>
        <p:blipFill>
          <a:blip r:embed="rId5">
            <a:extLst/>
          </a:blip>
          <a:srcRect l="48434" t="0" r="0" b="0"/>
          <a:stretch>
            <a:fillRect/>
          </a:stretch>
        </p:blipFill>
        <p:spPr>
          <a:xfrm flipH="1">
            <a:off x="11254402" y="4473999"/>
            <a:ext cx="937604" cy="1816726"/>
          </a:xfrm>
          <a:prstGeom prst="rect">
            <a:avLst/>
          </a:prstGeom>
          <a:ln w="12700">
            <a:miter lim="400000"/>
          </a:ln>
        </p:spPr>
      </p:pic>
      <p:sp>
        <p:nvSpPr>
          <p:cNvPr id="58" name="Text 3"/>
          <p:cNvSpPr txBox="1"/>
          <p:nvPr/>
        </p:nvSpPr>
        <p:spPr>
          <a:xfrm>
            <a:off x="4835525" y="1219835"/>
            <a:ext cx="806450"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052334"/>
                </a:solidFill>
                <a:latin typeface="MiSans"/>
                <a:ea typeface="MiSans"/>
                <a:cs typeface="MiSans"/>
                <a:sym typeface="MiSans"/>
              </a:defRPr>
            </a:lvl1pPr>
          </a:lstStyle>
          <a:p>
            <a:pPr/>
            <a:r>
              <a:t>01.</a:t>
            </a:r>
          </a:p>
        </p:txBody>
      </p:sp>
      <p:sp>
        <p:nvSpPr>
          <p:cNvPr id="59" name="Text 4"/>
          <p:cNvSpPr txBox="1"/>
          <p:nvPr/>
        </p:nvSpPr>
        <p:spPr>
          <a:xfrm>
            <a:off x="5642607" y="1334769"/>
            <a:ext cx="626809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052334"/>
                </a:solidFill>
                <a:latin typeface="MiSans"/>
                <a:ea typeface="MiSans"/>
                <a:cs typeface="MiSans"/>
                <a:sym typeface="MiSans"/>
              </a:defRPr>
            </a:lvl1pPr>
          </a:lstStyle>
          <a:p>
            <a:pPr/>
            <a:r>
              <a:t>Project Background and Task Introduction</a:t>
            </a:r>
          </a:p>
        </p:txBody>
      </p:sp>
      <p:sp>
        <p:nvSpPr>
          <p:cNvPr id="60" name="Text 5"/>
          <p:cNvSpPr txBox="1"/>
          <p:nvPr/>
        </p:nvSpPr>
        <p:spPr>
          <a:xfrm>
            <a:off x="4835525" y="2028825"/>
            <a:ext cx="806450" cy="546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052334"/>
                </a:solidFill>
                <a:latin typeface="MiSans"/>
                <a:ea typeface="MiSans"/>
                <a:cs typeface="MiSans"/>
                <a:sym typeface="MiSans"/>
              </a:defRPr>
            </a:lvl1pPr>
          </a:lstStyle>
          <a:p>
            <a:pPr/>
            <a:r>
              <a:t>02.</a:t>
            </a:r>
          </a:p>
        </p:txBody>
      </p:sp>
      <p:sp>
        <p:nvSpPr>
          <p:cNvPr id="61" name="Text 6"/>
          <p:cNvSpPr txBox="1"/>
          <p:nvPr/>
        </p:nvSpPr>
        <p:spPr>
          <a:xfrm>
            <a:off x="5642607" y="2146300"/>
            <a:ext cx="6268095"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latin typeface="Calibri"/>
                <a:ea typeface="Calibri"/>
                <a:cs typeface="Calibri"/>
                <a:sym typeface="Calibri"/>
              </a:defRPr>
            </a:lvl1pPr>
          </a:lstStyle>
          <a:p>
            <a:pPr/>
            <a:r>
              <a:t>Methodology: Model Architecture</a:t>
            </a:r>
          </a:p>
        </p:txBody>
      </p:sp>
      <p:sp>
        <p:nvSpPr>
          <p:cNvPr id="62" name="Text 7"/>
          <p:cNvSpPr txBox="1"/>
          <p:nvPr/>
        </p:nvSpPr>
        <p:spPr>
          <a:xfrm>
            <a:off x="4835525" y="2781935"/>
            <a:ext cx="806450"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052334"/>
                </a:solidFill>
                <a:latin typeface="MiSans"/>
                <a:ea typeface="MiSans"/>
                <a:cs typeface="MiSans"/>
                <a:sym typeface="MiSans"/>
              </a:defRPr>
            </a:lvl1pPr>
          </a:lstStyle>
          <a:p>
            <a:pPr/>
            <a:r>
              <a:t>03.</a:t>
            </a:r>
          </a:p>
        </p:txBody>
      </p:sp>
      <p:sp>
        <p:nvSpPr>
          <p:cNvPr id="63" name="Text 8"/>
          <p:cNvSpPr txBox="1"/>
          <p:nvPr/>
        </p:nvSpPr>
        <p:spPr>
          <a:xfrm>
            <a:off x="5642607" y="2891152"/>
            <a:ext cx="626809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052334"/>
                </a:solidFill>
                <a:latin typeface="MiSans"/>
                <a:ea typeface="MiSans"/>
                <a:cs typeface="MiSans"/>
                <a:sym typeface="MiSans"/>
              </a:defRPr>
            </a:lvl1pPr>
          </a:lstStyle>
          <a:p>
            <a:pPr/>
            <a:r>
              <a:t>Training Strategy and Optimization</a:t>
            </a:r>
          </a:p>
        </p:txBody>
      </p:sp>
      <p:sp>
        <p:nvSpPr>
          <p:cNvPr id="64" name="Text 9"/>
          <p:cNvSpPr txBox="1"/>
          <p:nvPr/>
        </p:nvSpPr>
        <p:spPr>
          <a:xfrm>
            <a:off x="4835525" y="3562984"/>
            <a:ext cx="806450"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052334"/>
                </a:solidFill>
                <a:latin typeface="MiSans"/>
                <a:ea typeface="MiSans"/>
                <a:cs typeface="MiSans"/>
                <a:sym typeface="MiSans"/>
              </a:defRPr>
            </a:lvl1pPr>
          </a:lstStyle>
          <a:p>
            <a:pPr/>
            <a:r>
              <a:t>04.</a:t>
            </a:r>
          </a:p>
        </p:txBody>
      </p:sp>
      <p:sp>
        <p:nvSpPr>
          <p:cNvPr id="65" name="Text 10"/>
          <p:cNvSpPr txBox="1"/>
          <p:nvPr/>
        </p:nvSpPr>
        <p:spPr>
          <a:xfrm>
            <a:off x="5642607" y="3663950"/>
            <a:ext cx="6268095"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052334"/>
                </a:solidFill>
                <a:latin typeface="MiSans"/>
                <a:ea typeface="MiSans"/>
                <a:cs typeface="MiSans"/>
                <a:sym typeface="MiSans"/>
              </a:defRPr>
            </a:lvl1pPr>
          </a:lstStyle>
          <a:p>
            <a:pPr/>
            <a:r>
              <a:t>Loss Function and Evaluation</a:t>
            </a:r>
          </a:p>
        </p:txBody>
      </p:sp>
      <p:sp>
        <p:nvSpPr>
          <p:cNvPr id="66" name="Text 11"/>
          <p:cNvSpPr txBox="1"/>
          <p:nvPr/>
        </p:nvSpPr>
        <p:spPr>
          <a:xfrm>
            <a:off x="4835525" y="4344034"/>
            <a:ext cx="83248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052334"/>
                </a:solidFill>
                <a:latin typeface="MiSans"/>
                <a:ea typeface="MiSans"/>
                <a:cs typeface="MiSans"/>
                <a:sym typeface="MiSans"/>
              </a:defRPr>
            </a:lvl1pPr>
          </a:lstStyle>
          <a:p>
            <a:pPr/>
            <a:r>
              <a:t>05.</a:t>
            </a:r>
          </a:p>
        </p:txBody>
      </p:sp>
      <p:sp>
        <p:nvSpPr>
          <p:cNvPr id="67" name="Text 12"/>
          <p:cNvSpPr txBox="1"/>
          <p:nvPr/>
        </p:nvSpPr>
        <p:spPr>
          <a:xfrm>
            <a:off x="5642607" y="4443095"/>
            <a:ext cx="626809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052334"/>
                </a:solidFill>
                <a:latin typeface="MiSans"/>
                <a:ea typeface="MiSans"/>
                <a:cs typeface="MiSans"/>
                <a:sym typeface="MiSans"/>
              </a:defRPr>
            </a:lvl1pPr>
          </a:lstStyle>
          <a:p>
            <a:pPr/>
            <a:r>
              <a:t>Experimental results</a:t>
            </a:r>
          </a:p>
        </p:txBody>
      </p:sp>
      <p:sp>
        <p:nvSpPr>
          <p:cNvPr id="68" name="Text 13"/>
          <p:cNvSpPr txBox="1"/>
          <p:nvPr/>
        </p:nvSpPr>
        <p:spPr>
          <a:xfrm>
            <a:off x="4835525" y="5097145"/>
            <a:ext cx="806450"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052334"/>
                </a:solidFill>
                <a:latin typeface="MiSans"/>
                <a:ea typeface="MiSans"/>
                <a:cs typeface="MiSans"/>
                <a:sym typeface="MiSans"/>
              </a:defRPr>
            </a:lvl1pPr>
          </a:lstStyle>
          <a:p>
            <a:pPr/>
            <a:r>
              <a:t>06.</a:t>
            </a:r>
          </a:p>
        </p:txBody>
      </p:sp>
      <p:sp>
        <p:nvSpPr>
          <p:cNvPr id="69" name="Text 14"/>
          <p:cNvSpPr txBox="1"/>
          <p:nvPr/>
        </p:nvSpPr>
        <p:spPr>
          <a:xfrm>
            <a:off x="5642607" y="5210809"/>
            <a:ext cx="6268095"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Calibri"/>
                <a:ea typeface="Calibri"/>
                <a:cs typeface="Calibri"/>
                <a:sym typeface="Calibri"/>
              </a:defRPr>
            </a:lvl1pPr>
          </a:lstStyle>
          <a:p>
            <a:pPr/>
            <a:r>
              <a:t>Error Analysis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71" name="Image 1" descr="Image 1"/>
          <p:cNvPicPr>
            <a:picLocks noChangeAspect="1"/>
          </p:cNvPicPr>
          <p:nvPr/>
        </p:nvPicPr>
        <p:blipFill>
          <a:blip r:embed="rId3">
            <a:alphaModFix amt="40000"/>
            <a:extLst/>
          </a:blip>
          <a:stretch>
            <a:fillRect/>
          </a:stretch>
        </p:blipFill>
        <p:spPr>
          <a:xfrm flipV="1">
            <a:off x="10751818" y="428625"/>
            <a:ext cx="762007" cy="76200"/>
          </a:xfrm>
          <a:prstGeom prst="rect">
            <a:avLst/>
          </a:prstGeom>
          <a:ln w="12700">
            <a:miter lim="400000"/>
          </a:ln>
        </p:spPr>
      </p:pic>
      <p:pic>
        <p:nvPicPr>
          <p:cNvPr id="72" name="Image 2" descr="Image 2"/>
          <p:cNvPicPr>
            <a:picLocks noChangeAspect="1"/>
          </p:cNvPicPr>
          <p:nvPr/>
        </p:nvPicPr>
        <p:blipFill>
          <a:blip r:embed="rId3">
            <a:alphaModFix amt="40000"/>
            <a:extLst/>
          </a:blip>
          <a:stretch>
            <a:fillRect/>
          </a:stretch>
        </p:blipFill>
        <p:spPr>
          <a:xfrm flipV="1">
            <a:off x="10751818" y="559434"/>
            <a:ext cx="762007" cy="76207"/>
          </a:xfrm>
          <a:prstGeom prst="rect">
            <a:avLst/>
          </a:prstGeom>
          <a:ln w="12700">
            <a:miter lim="400000"/>
          </a:ln>
        </p:spPr>
      </p:pic>
      <p:sp>
        <p:nvSpPr>
          <p:cNvPr id="73" name="Shape 0"/>
          <p:cNvSpPr/>
          <p:nvPr/>
        </p:nvSpPr>
        <p:spPr>
          <a:xfrm>
            <a:off x="941703" y="941069"/>
            <a:ext cx="1073791" cy="800107"/>
          </a:xfrm>
          <a:prstGeom prst="rect">
            <a:avLst/>
          </a:prstGeom>
          <a:solidFill>
            <a:srgbClr val="000000">
              <a:alpha val="0"/>
            </a:srgbClr>
          </a:solidFill>
          <a:ln w="12700">
            <a:miter lim="400000"/>
          </a:ln>
        </p:spPr>
        <p:txBody>
          <a:bodyPr lIns="45718" tIns="45718" rIns="45718" bIns="45718"/>
          <a:lstStyle/>
          <a:p>
            <a:pPr>
              <a:defRPr>
                <a:latin typeface="Calibri"/>
                <a:ea typeface="Calibri"/>
                <a:cs typeface="Calibri"/>
                <a:sym typeface="Calibri"/>
              </a:defRPr>
            </a:pPr>
          </a:p>
        </p:txBody>
      </p:sp>
      <p:sp>
        <p:nvSpPr>
          <p:cNvPr id="74" name="Text 2"/>
          <p:cNvSpPr txBox="1"/>
          <p:nvPr/>
        </p:nvSpPr>
        <p:spPr>
          <a:xfrm rot="5400000">
            <a:off x="-510223" y="3428682"/>
            <a:ext cx="3877310" cy="736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4800">
                <a:latin typeface="MiSans"/>
                <a:ea typeface="MiSans"/>
                <a:cs typeface="MiSans"/>
                <a:sym typeface="MiSans"/>
              </a:defRPr>
            </a:lvl1pPr>
          </a:lstStyle>
          <a:p>
            <a:pPr/>
            <a:r>
              <a:t>CONTENTS</a:t>
            </a:r>
          </a:p>
        </p:txBody>
      </p:sp>
      <p:pic>
        <p:nvPicPr>
          <p:cNvPr id="75" name="Image 3" descr="Image 3"/>
          <p:cNvPicPr>
            <a:picLocks noChangeAspect="1"/>
          </p:cNvPicPr>
          <p:nvPr/>
        </p:nvPicPr>
        <p:blipFill>
          <a:blip r:embed="rId4">
            <a:extLst/>
          </a:blip>
          <a:srcRect l="412" t="0" r="411" b="0"/>
          <a:stretch>
            <a:fillRect/>
          </a:stretch>
        </p:blipFill>
        <p:spPr>
          <a:xfrm flipH="1">
            <a:off x="2954653" y="1238885"/>
            <a:ext cx="1530353" cy="1543057"/>
          </a:xfrm>
          <a:prstGeom prst="rect">
            <a:avLst/>
          </a:prstGeom>
          <a:ln w="12700">
            <a:miter lim="400000"/>
          </a:ln>
        </p:spPr>
      </p:pic>
      <p:pic>
        <p:nvPicPr>
          <p:cNvPr id="76" name="Image 4" descr="Image 4"/>
          <p:cNvPicPr>
            <a:picLocks noChangeAspect="1"/>
          </p:cNvPicPr>
          <p:nvPr/>
        </p:nvPicPr>
        <p:blipFill>
          <a:blip r:embed="rId5">
            <a:extLst/>
          </a:blip>
          <a:srcRect l="0" t="491" r="0" b="486"/>
          <a:stretch>
            <a:fillRect/>
          </a:stretch>
        </p:blipFill>
        <p:spPr>
          <a:xfrm>
            <a:off x="9976484" y="931542"/>
            <a:ext cx="775342" cy="4947926"/>
          </a:xfrm>
          <a:prstGeom prst="rect">
            <a:avLst/>
          </a:prstGeom>
          <a:ln w="12700">
            <a:miter lim="400000"/>
          </a:ln>
        </p:spPr>
      </p:pic>
      <p:pic>
        <p:nvPicPr>
          <p:cNvPr id="77" name="Image 5" descr="Image 5"/>
          <p:cNvPicPr>
            <a:picLocks noChangeAspect="1"/>
          </p:cNvPicPr>
          <p:nvPr/>
        </p:nvPicPr>
        <p:blipFill>
          <a:blip r:embed="rId4">
            <a:extLst/>
          </a:blip>
          <a:srcRect l="48434" t="0" r="0" b="0"/>
          <a:stretch>
            <a:fillRect/>
          </a:stretch>
        </p:blipFill>
        <p:spPr>
          <a:xfrm flipH="1">
            <a:off x="11254402" y="4473999"/>
            <a:ext cx="937604" cy="1816726"/>
          </a:xfrm>
          <a:prstGeom prst="rect">
            <a:avLst/>
          </a:prstGeom>
          <a:ln w="12700">
            <a:miter lim="400000"/>
          </a:ln>
        </p:spPr>
      </p:pic>
      <p:sp>
        <p:nvSpPr>
          <p:cNvPr id="78" name="Text 3"/>
          <p:cNvSpPr txBox="1"/>
          <p:nvPr/>
        </p:nvSpPr>
        <p:spPr>
          <a:xfrm>
            <a:off x="4835525" y="1219835"/>
            <a:ext cx="806450"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052334"/>
                </a:solidFill>
                <a:latin typeface="MiSans"/>
                <a:ea typeface="MiSans"/>
                <a:cs typeface="MiSans"/>
                <a:sym typeface="MiSans"/>
              </a:defRPr>
            </a:lvl1pPr>
          </a:lstStyle>
          <a:p>
            <a:pPr/>
            <a:r>
              <a:t>07.</a:t>
            </a:r>
          </a:p>
        </p:txBody>
      </p:sp>
      <p:sp>
        <p:nvSpPr>
          <p:cNvPr id="79" name="Text 4"/>
          <p:cNvSpPr txBox="1"/>
          <p:nvPr/>
        </p:nvSpPr>
        <p:spPr>
          <a:xfrm>
            <a:off x="5642607" y="1334769"/>
            <a:ext cx="626809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052334"/>
                </a:solidFill>
                <a:latin typeface="MiSans"/>
                <a:ea typeface="MiSans"/>
                <a:cs typeface="MiSans"/>
                <a:sym typeface="MiSans"/>
              </a:defRPr>
            </a:lvl1pPr>
          </a:lstStyle>
          <a:p>
            <a:pPr/>
            <a:r>
              <a:t>Model efficiency and resource usage</a:t>
            </a:r>
          </a:p>
        </p:txBody>
      </p:sp>
      <p:sp>
        <p:nvSpPr>
          <p:cNvPr id="80" name="Text 5"/>
          <p:cNvSpPr txBox="1"/>
          <p:nvPr/>
        </p:nvSpPr>
        <p:spPr>
          <a:xfrm>
            <a:off x="4835525" y="2028825"/>
            <a:ext cx="806450" cy="546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052334"/>
                </a:solidFill>
                <a:latin typeface="MiSans"/>
                <a:ea typeface="MiSans"/>
                <a:cs typeface="MiSans"/>
                <a:sym typeface="MiSans"/>
              </a:defRPr>
            </a:lvl1pPr>
          </a:lstStyle>
          <a:p>
            <a:pPr/>
            <a:r>
              <a:t>08.</a:t>
            </a:r>
          </a:p>
        </p:txBody>
      </p:sp>
      <p:sp>
        <p:nvSpPr>
          <p:cNvPr id="81" name="Text 6"/>
          <p:cNvSpPr txBox="1"/>
          <p:nvPr/>
        </p:nvSpPr>
        <p:spPr>
          <a:xfrm>
            <a:off x="5642607" y="2146300"/>
            <a:ext cx="6268095"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latin typeface="Calibri"/>
                <a:ea typeface="Calibri"/>
                <a:cs typeface="Calibri"/>
                <a:sym typeface="Calibri"/>
              </a:defRPr>
            </a:lvl1pPr>
          </a:lstStyle>
          <a:p>
            <a:pPr/>
            <a:r>
              <a:t>AI Tool Instructions</a:t>
            </a:r>
          </a:p>
        </p:txBody>
      </p:sp>
      <p:sp>
        <p:nvSpPr>
          <p:cNvPr id="82" name="Text 7"/>
          <p:cNvSpPr txBox="1"/>
          <p:nvPr/>
        </p:nvSpPr>
        <p:spPr>
          <a:xfrm>
            <a:off x="4835525" y="2781935"/>
            <a:ext cx="806450"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3600">
                <a:solidFill>
                  <a:srgbClr val="052334"/>
                </a:solidFill>
                <a:latin typeface="MiSans"/>
                <a:ea typeface="MiSans"/>
                <a:cs typeface="MiSans"/>
                <a:sym typeface="MiSans"/>
              </a:defRPr>
            </a:lvl1pPr>
          </a:lstStyle>
          <a:p>
            <a:pPr/>
            <a:r>
              <a:t>09.</a:t>
            </a:r>
          </a:p>
        </p:txBody>
      </p:sp>
      <p:sp>
        <p:nvSpPr>
          <p:cNvPr id="83" name="Text 8"/>
          <p:cNvSpPr txBox="1"/>
          <p:nvPr/>
        </p:nvSpPr>
        <p:spPr>
          <a:xfrm>
            <a:off x="5642607" y="2891152"/>
            <a:ext cx="6268095"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052334"/>
                </a:solidFill>
                <a:latin typeface="MiSans"/>
                <a:ea typeface="MiSans"/>
                <a:cs typeface="MiSans"/>
                <a:sym typeface="MiSans"/>
              </a:defRPr>
            </a:lvl1pPr>
          </a:lstStyle>
          <a:p>
            <a:pPr/>
            <a:r>
              <a:t>Summary and Future Work</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85" name="Image 0" descr="Image 0"/>
          <p:cNvPicPr>
            <a:picLocks noChangeAspect="1"/>
          </p:cNvPicPr>
          <p:nvPr/>
        </p:nvPicPr>
        <p:blipFill>
          <a:blip r:embed="rId3">
            <a:extLst/>
          </a:blip>
          <a:srcRect l="0" t="28475" r="0" b="28475"/>
          <a:stretch>
            <a:fillRect/>
          </a:stretch>
        </p:blipFill>
        <p:spPr>
          <a:xfrm>
            <a:off x="0" y="2468877"/>
            <a:ext cx="12191366" cy="1835153"/>
          </a:xfrm>
          <a:prstGeom prst="rect">
            <a:avLst/>
          </a:prstGeom>
          <a:ln w="12700">
            <a:miter lim="400000"/>
          </a:ln>
        </p:spPr>
      </p:pic>
      <p:sp>
        <p:nvSpPr>
          <p:cNvPr id="86" name="Text 0"/>
          <p:cNvSpPr txBox="1"/>
          <p:nvPr/>
        </p:nvSpPr>
        <p:spPr>
          <a:xfrm>
            <a:off x="810894" y="3133088"/>
            <a:ext cx="6515101" cy="11836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600">
                <a:solidFill>
                  <a:srgbClr val="052334"/>
                </a:solidFill>
                <a:latin typeface="MiSans"/>
                <a:ea typeface="MiSans"/>
                <a:cs typeface="MiSans"/>
                <a:sym typeface="MiSans"/>
              </a:defRPr>
            </a:lvl1pPr>
          </a:lstStyle>
          <a:p>
            <a:pPr/>
            <a:r>
              <a:t>Project Background and Task Introduction</a:t>
            </a:r>
          </a:p>
        </p:txBody>
      </p:sp>
      <p:pic>
        <p:nvPicPr>
          <p:cNvPr id="87" name="Image 1" descr="Image 1"/>
          <p:cNvPicPr>
            <a:picLocks noChangeAspect="1"/>
          </p:cNvPicPr>
          <p:nvPr/>
        </p:nvPicPr>
        <p:blipFill>
          <a:blip r:embed="rId4">
            <a:alphaModFix amt="40000"/>
            <a:extLst/>
          </a:blip>
          <a:stretch>
            <a:fillRect/>
          </a:stretch>
        </p:blipFill>
        <p:spPr>
          <a:xfrm flipV="1">
            <a:off x="10896600" y="897888"/>
            <a:ext cx="762000" cy="76207"/>
          </a:xfrm>
          <a:prstGeom prst="rect">
            <a:avLst/>
          </a:prstGeom>
          <a:ln w="12700">
            <a:miter lim="400000"/>
          </a:ln>
        </p:spPr>
      </p:pic>
      <p:pic>
        <p:nvPicPr>
          <p:cNvPr id="88" name="Image 2" descr="Image 2"/>
          <p:cNvPicPr>
            <a:picLocks noChangeAspect="1"/>
          </p:cNvPicPr>
          <p:nvPr/>
        </p:nvPicPr>
        <p:blipFill>
          <a:blip r:embed="rId4">
            <a:alphaModFix amt="40000"/>
            <a:extLst/>
          </a:blip>
          <a:stretch>
            <a:fillRect/>
          </a:stretch>
        </p:blipFill>
        <p:spPr>
          <a:xfrm flipV="1">
            <a:off x="10896600" y="1028700"/>
            <a:ext cx="762000" cy="76200"/>
          </a:xfrm>
          <a:prstGeom prst="rect">
            <a:avLst/>
          </a:prstGeom>
          <a:ln w="12700">
            <a:miter lim="400000"/>
          </a:ln>
        </p:spPr>
      </p:pic>
      <p:sp>
        <p:nvSpPr>
          <p:cNvPr id="89" name="Shape 1"/>
          <p:cNvSpPr/>
          <p:nvPr/>
        </p:nvSpPr>
        <p:spPr>
          <a:xfrm>
            <a:off x="803814" y="5686045"/>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90" name="Shape 3"/>
          <p:cNvSpPr/>
          <p:nvPr/>
        </p:nvSpPr>
        <p:spPr>
          <a:xfrm>
            <a:off x="803814" y="5783019"/>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91" name="Shape 5"/>
          <p:cNvSpPr/>
          <p:nvPr/>
        </p:nvSpPr>
        <p:spPr>
          <a:xfrm>
            <a:off x="803814" y="587999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92" name="Image 3" descr="Image 3"/>
          <p:cNvPicPr>
            <a:picLocks noChangeAspect="1"/>
          </p:cNvPicPr>
          <p:nvPr/>
        </p:nvPicPr>
        <p:blipFill>
          <a:blip r:embed="rId5">
            <a:extLst/>
          </a:blip>
          <a:srcRect l="423" t="0" r="417" b="0"/>
          <a:stretch>
            <a:fillRect/>
          </a:stretch>
        </p:blipFill>
        <p:spPr>
          <a:xfrm flipH="1">
            <a:off x="7372346" y="1739900"/>
            <a:ext cx="3202311" cy="3228975"/>
          </a:xfrm>
          <a:prstGeom prst="rect">
            <a:avLst/>
          </a:prstGeom>
          <a:ln w="12700">
            <a:miter lim="400000"/>
          </a:ln>
        </p:spPr>
      </p:pic>
      <p:sp>
        <p:nvSpPr>
          <p:cNvPr id="93" name="Text 7"/>
          <p:cNvSpPr txBox="1"/>
          <p:nvPr/>
        </p:nvSpPr>
        <p:spPr>
          <a:xfrm>
            <a:off x="8209750" y="2654935"/>
            <a:ext cx="1527509" cy="1386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8500">
                <a:solidFill>
                  <a:srgbClr val="052334"/>
                </a:solidFill>
                <a:latin typeface="MiSans"/>
                <a:ea typeface="MiSans"/>
                <a:cs typeface="MiSans"/>
                <a:sym typeface="MiSans"/>
              </a:defRPr>
            </a:lvl1pPr>
          </a:lstStyle>
          <a:p>
            <a:pPr/>
            <a:r>
              <a:t>01</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95" name="Image 0" descr="Image 0"/>
          <p:cNvPicPr>
            <a:picLocks noChangeAspect="1"/>
          </p:cNvPicPr>
          <p:nvPr/>
        </p:nvPicPr>
        <p:blipFill>
          <a:blip r:embed="rId3">
            <a:extLst/>
          </a:blip>
          <a:srcRect l="0" t="33693" r="0" b="33693"/>
          <a:stretch>
            <a:fillRect/>
          </a:stretch>
        </p:blipFill>
        <p:spPr>
          <a:xfrm>
            <a:off x="1867535" y="1657984"/>
            <a:ext cx="10021570" cy="4356104"/>
          </a:xfrm>
          <a:prstGeom prst="rect">
            <a:avLst/>
          </a:prstGeom>
          <a:ln w="12700">
            <a:miter lim="400000"/>
          </a:ln>
        </p:spPr>
      </p:pic>
      <p:sp>
        <p:nvSpPr>
          <p:cNvPr id="96" name="Shape 1"/>
          <p:cNvSpPr/>
          <p:nvPr/>
        </p:nvSpPr>
        <p:spPr>
          <a:xfrm>
            <a:off x="5177790" y="3709208"/>
            <a:ext cx="5" cy="928921"/>
          </a:xfrm>
          <a:prstGeom prst="line">
            <a:avLst/>
          </a:prstGeom>
          <a:ln w="19050">
            <a:solidFill>
              <a:srgbClr val="D9D9D9"/>
            </a:solidFill>
          </a:ln>
        </p:spPr>
        <p:txBody>
          <a:bodyPr lIns="45718" tIns="45718" rIns="45718" bIns="45718"/>
          <a:lstStyle/>
          <a:p>
            <a:pPr/>
          </a:p>
        </p:txBody>
      </p:sp>
      <p:sp>
        <p:nvSpPr>
          <p:cNvPr id="97" name="Shape 2"/>
          <p:cNvSpPr/>
          <p:nvPr/>
        </p:nvSpPr>
        <p:spPr>
          <a:xfrm>
            <a:off x="8518524" y="3709208"/>
            <a:ext cx="8" cy="928921"/>
          </a:xfrm>
          <a:prstGeom prst="line">
            <a:avLst/>
          </a:prstGeom>
          <a:ln w="19050">
            <a:solidFill>
              <a:srgbClr val="D9D9D9"/>
            </a:solidFill>
          </a:ln>
        </p:spPr>
        <p:txBody>
          <a:bodyPr lIns="45718" tIns="45718" rIns="45718" bIns="45718"/>
          <a:lstStyle/>
          <a:p>
            <a:pPr/>
          </a:p>
        </p:txBody>
      </p:sp>
      <p:pic>
        <p:nvPicPr>
          <p:cNvPr id="98" name="Image 1" descr="Image 1"/>
          <p:cNvPicPr>
            <a:picLocks noChangeAspect="1"/>
          </p:cNvPicPr>
          <p:nvPr/>
        </p:nvPicPr>
        <p:blipFill>
          <a:blip r:embed="rId4">
            <a:extLst/>
          </a:blip>
          <a:srcRect l="48434" t="0" r="0" b="0"/>
          <a:stretch>
            <a:fillRect/>
          </a:stretch>
        </p:blipFill>
        <p:spPr>
          <a:xfrm>
            <a:off x="-1" y="2996987"/>
            <a:ext cx="937602" cy="1816731"/>
          </a:xfrm>
          <a:prstGeom prst="rect">
            <a:avLst/>
          </a:prstGeom>
          <a:ln w="12700">
            <a:miter lim="400000"/>
          </a:ln>
        </p:spPr>
      </p:pic>
      <p:sp>
        <p:nvSpPr>
          <p:cNvPr id="99" name="Text 3"/>
          <p:cNvSpPr txBox="1"/>
          <p:nvPr/>
        </p:nvSpPr>
        <p:spPr>
          <a:xfrm>
            <a:off x="2246626" y="2529520"/>
            <a:ext cx="251460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262626"/>
                </a:solidFill>
                <a:latin typeface="MiSans"/>
                <a:ea typeface="MiSans"/>
                <a:cs typeface="MiSans"/>
                <a:sym typeface="MiSans"/>
              </a:defRPr>
            </a:lvl1pPr>
          </a:lstStyle>
          <a:p>
            <a:pPr/>
            <a:r>
              <a:t>Task objective</a:t>
            </a:r>
          </a:p>
        </p:txBody>
      </p:sp>
      <p:sp>
        <p:nvSpPr>
          <p:cNvPr id="100" name="Text 4"/>
          <p:cNvSpPr txBox="1"/>
          <p:nvPr/>
        </p:nvSpPr>
        <p:spPr>
          <a:xfrm>
            <a:off x="2268852" y="3138801"/>
            <a:ext cx="2513971" cy="1187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Input is a MNIST digit image spliced ​​left and right, and determine whether the left digit is larger than right digit</a:t>
            </a:r>
          </a:p>
        </p:txBody>
      </p:sp>
      <p:sp>
        <p:nvSpPr>
          <p:cNvPr id="101" name="Text 5"/>
          <p:cNvSpPr txBox="1"/>
          <p:nvPr/>
        </p:nvSpPr>
        <p:spPr>
          <a:xfrm>
            <a:off x="5568950" y="2384106"/>
            <a:ext cx="2514600"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52334"/>
                </a:solidFill>
                <a:latin typeface="MiSans"/>
                <a:ea typeface="MiSans"/>
                <a:cs typeface="MiSans"/>
                <a:sym typeface="MiSans"/>
              </a:defRPr>
            </a:lvl1pPr>
          </a:lstStyle>
          <a:p>
            <a:pPr/>
            <a:r>
              <a:t>Dataset characteristics</a:t>
            </a:r>
          </a:p>
        </p:txBody>
      </p:sp>
      <p:sp>
        <p:nvSpPr>
          <p:cNvPr id="102" name="Text 6"/>
          <p:cNvSpPr txBox="1"/>
          <p:nvPr/>
        </p:nvSpPr>
        <p:spPr>
          <a:xfrm>
            <a:off x="5591175" y="3145788"/>
            <a:ext cx="2513965" cy="15740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lnSpc>
                <a:spcPct val="150000"/>
              </a:lnSpc>
              <a:defRPr sz="1400">
                <a:solidFill>
                  <a:srgbClr val="262626"/>
                </a:solidFill>
                <a:latin typeface="MiSans"/>
                <a:ea typeface="MiSans"/>
                <a:cs typeface="MiSans"/>
                <a:sym typeface="MiSans"/>
              </a:defRPr>
            </a:pPr>
            <a:r>
              <a:t>28×56 grayscale image, excluding the case where a=b</a:t>
            </a:r>
          </a:p>
          <a:p>
            <a:pPr algn="just">
              <a:lnSpc>
                <a:spcPct val="150000"/>
              </a:lnSpc>
              <a:defRPr sz="1600">
                <a:latin typeface="Calibri"/>
                <a:ea typeface="Calibri"/>
                <a:cs typeface="Calibri"/>
                <a:sym typeface="Calibri"/>
              </a:defRPr>
            </a:pPr>
            <a:r>
              <a:t>The model needs to be robust to disturbances such as rotation, noise, and occlusion</a:t>
            </a:r>
          </a:p>
        </p:txBody>
      </p:sp>
      <p:sp>
        <p:nvSpPr>
          <p:cNvPr id="103" name="Text 7"/>
          <p:cNvSpPr txBox="1"/>
          <p:nvPr/>
        </p:nvSpPr>
        <p:spPr>
          <a:xfrm>
            <a:off x="8852534" y="2556827"/>
            <a:ext cx="2514603"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52334"/>
                </a:solidFill>
                <a:latin typeface="MiSans"/>
                <a:ea typeface="MiSans"/>
                <a:cs typeface="MiSans"/>
                <a:sym typeface="MiSans"/>
              </a:defRPr>
            </a:lvl1pPr>
          </a:lstStyle>
          <a:p>
            <a:pPr/>
            <a:r>
              <a:t>Task constraints</a:t>
            </a:r>
          </a:p>
        </p:txBody>
      </p:sp>
      <p:sp>
        <p:nvSpPr>
          <p:cNvPr id="104" name="Text 8"/>
          <p:cNvSpPr txBox="1"/>
          <p:nvPr/>
        </p:nvSpPr>
        <p:spPr>
          <a:xfrm>
            <a:off x="8874759" y="3166110"/>
            <a:ext cx="2513972" cy="1187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End-to-end model, prohibiting the use of multi-stage recognition + comparison strategies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06" name="Image 0" descr="Image 0"/>
          <p:cNvPicPr>
            <a:picLocks noChangeAspect="1"/>
          </p:cNvPicPr>
          <p:nvPr/>
        </p:nvPicPr>
        <p:blipFill>
          <a:blip r:embed="rId3">
            <a:extLst/>
          </a:blip>
          <a:stretch>
            <a:fillRect/>
          </a:stretch>
        </p:blipFill>
        <p:spPr>
          <a:xfrm>
            <a:off x="0" y="499744"/>
            <a:ext cx="12192000" cy="5861052"/>
          </a:xfrm>
          <a:prstGeom prst="rect">
            <a:avLst/>
          </a:prstGeom>
          <a:ln w="12700">
            <a:miter lim="400000"/>
          </a:ln>
        </p:spPr>
      </p:pic>
      <p:sp>
        <p:nvSpPr>
          <p:cNvPr id="107" name="Text 0"/>
          <p:cNvSpPr txBox="1"/>
          <p:nvPr/>
        </p:nvSpPr>
        <p:spPr>
          <a:xfrm>
            <a:off x="732155" y="895349"/>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150000"/>
              </a:lnSpc>
              <a:defRPr sz="3600">
                <a:solidFill>
                  <a:srgbClr val="052334"/>
                </a:solidFill>
                <a:latin typeface="MiSans"/>
                <a:ea typeface="MiSans"/>
                <a:cs typeface="MiSans"/>
                <a:sym typeface="MiSans"/>
              </a:defRPr>
            </a:lvl1pPr>
          </a:lstStyle>
          <a:p>
            <a:pPr/>
            <a:r>
              <a:t>Baseline bottlenecks and improvement targets</a:t>
            </a:r>
          </a:p>
        </p:txBody>
      </p:sp>
      <p:pic>
        <p:nvPicPr>
          <p:cNvPr id="108" name="Image 1" descr="Image 1"/>
          <p:cNvPicPr>
            <a:picLocks noChangeAspect="1"/>
          </p:cNvPicPr>
          <p:nvPr/>
        </p:nvPicPr>
        <p:blipFill>
          <a:blip r:embed="rId4">
            <a:extLst/>
          </a:blip>
          <a:srcRect l="429" t="0" r="424" b="0"/>
          <a:stretch>
            <a:fillRect/>
          </a:stretch>
        </p:blipFill>
        <p:spPr>
          <a:xfrm flipH="1">
            <a:off x="2475226" y="1931035"/>
            <a:ext cx="1247782" cy="1258574"/>
          </a:xfrm>
          <a:prstGeom prst="rect">
            <a:avLst/>
          </a:prstGeom>
          <a:ln w="12700">
            <a:miter lim="400000"/>
          </a:ln>
        </p:spPr>
      </p:pic>
      <p:pic>
        <p:nvPicPr>
          <p:cNvPr id="109" name="Image 2" descr="Image 2"/>
          <p:cNvPicPr>
            <a:picLocks noChangeAspect="1"/>
          </p:cNvPicPr>
          <p:nvPr/>
        </p:nvPicPr>
        <p:blipFill>
          <a:blip r:embed="rId4">
            <a:extLst/>
          </a:blip>
          <a:srcRect l="429" t="0" r="424" b="0"/>
          <a:stretch>
            <a:fillRect/>
          </a:stretch>
        </p:blipFill>
        <p:spPr>
          <a:xfrm flipH="1">
            <a:off x="8486774" y="1931035"/>
            <a:ext cx="1247782" cy="1258574"/>
          </a:xfrm>
          <a:prstGeom prst="rect">
            <a:avLst/>
          </a:prstGeom>
          <a:ln w="12700">
            <a:miter lim="400000"/>
          </a:ln>
        </p:spPr>
      </p:pic>
      <p:sp>
        <p:nvSpPr>
          <p:cNvPr id="110" name="Text 1"/>
          <p:cNvSpPr txBox="1"/>
          <p:nvPr/>
        </p:nvSpPr>
        <p:spPr>
          <a:xfrm>
            <a:off x="2660013" y="2282825"/>
            <a:ext cx="878207"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000">
                <a:solidFill>
                  <a:srgbClr val="052334"/>
                </a:solidFill>
                <a:latin typeface="MiSans"/>
                <a:ea typeface="MiSans"/>
                <a:cs typeface="MiSans"/>
                <a:sym typeface="MiSans"/>
              </a:defRPr>
            </a:lvl1pPr>
          </a:lstStyle>
          <a:p>
            <a:pPr/>
            <a:r>
              <a:t>01</a:t>
            </a:r>
          </a:p>
        </p:txBody>
      </p:sp>
      <p:sp>
        <p:nvSpPr>
          <p:cNvPr id="111" name="Text 2"/>
          <p:cNvSpPr txBox="1"/>
          <p:nvPr/>
        </p:nvSpPr>
        <p:spPr>
          <a:xfrm>
            <a:off x="671827" y="3528374"/>
            <a:ext cx="499809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52334"/>
                </a:solidFill>
                <a:latin typeface="MiSans"/>
                <a:ea typeface="MiSans"/>
                <a:cs typeface="MiSans"/>
                <a:sym typeface="MiSans"/>
              </a:defRPr>
            </a:lvl1pPr>
          </a:lstStyle>
          <a:p>
            <a:pPr/>
            <a:r>
              <a:t>Baseline model performance</a:t>
            </a:r>
          </a:p>
        </p:txBody>
      </p:sp>
      <p:sp>
        <p:nvSpPr>
          <p:cNvPr id="112" name="Text 3"/>
          <p:cNvSpPr txBox="1"/>
          <p:nvPr/>
        </p:nvSpPr>
        <p:spPr>
          <a:xfrm>
            <a:off x="1129659" y="3910329"/>
            <a:ext cx="4083060" cy="151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simple CNN+linear classifier has an accuracy of only 69% in the public test set, which makes it difficult to capture fine-grained numerical differences in images, and there is much room for performance improvement.</a:t>
            </a:r>
          </a:p>
        </p:txBody>
      </p:sp>
      <p:sp>
        <p:nvSpPr>
          <p:cNvPr id="113" name="Text 4"/>
          <p:cNvSpPr txBox="1"/>
          <p:nvPr/>
        </p:nvSpPr>
        <p:spPr>
          <a:xfrm>
            <a:off x="8671559" y="2282825"/>
            <a:ext cx="878207"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000">
                <a:solidFill>
                  <a:srgbClr val="052334"/>
                </a:solidFill>
                <a:latin typeface="MiSans"/>
                <a:ea typeface="MiSans"/>
                <a:cs typeface="MiSans"/>
                <a:sym typeface="MiSans"/>
              </a:defRPr>
            </a:lvl1pPr>
          </a:lstStyle>
          <a:p>
            <a:pPr/>
            <a:r>
              <a:t>02</a:t>
            </a:r>
          </a:p>
        </p:txBody>
      </p:sp>
      <p:sp>
        <p:nvSpPr>
          <p:cNvPr id="114" name="Text 5"/>
          <p:cNvSpPr txBox="1"/>
          <p:nvPr/>
        </p:nvSpPr>
        <p:spPr>
          <a:xfrm>
            <a:off x="6539865" y="3528374"/>
            <a:ext cx="4998092"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52334"/>
                </a:solidFill>
                <a:latin typeface="MiSans"/>
                <a:ea typeface="MiSans"/>
                <a:cs typeface="MiSans"/>
                <a:sym typeface="MiSans"/>
              </a:defRPr>
            </a:lvl1pPr>
          </a:lstStyle>
          <a:p>
            <a:pPr/>
            <a:r>
              <a:t>Improvement goals</a:t>
            </a:r>
          </a:p>
        </p:txBody>
      </p:sp>
      <p:sp>
        <p:nvSpPr>
          <p:cNvPr id="115" name="Text 6"/>
          <p:cNvSpPr txBox="1"/>
          <p:nvPr/>
        </p:nvSpPr>
        <p:spPr>
          <a:xfrm>
            <a:off x="6997700" y="3910329"/>
            <a:ext cx="4083050" cy="151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While maintaining end-to-end features and a lightweight model, the accuracy is increased by more than 7 percentage points to 76% or higher through deeper encoders, enhanced feature learning, and training strategies. </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7"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118"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119"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120"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21"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22"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123" name="图片 16" descr="图片 16"/>
          <p:cNvPicPr>
            <a:picLocks noChangeAspect="1"/>
          </p:cNvPicPr>
          <p:nvPr/>
        </p:nvPicPr>
        <p:blipFill>
          <a:blip r:embed="rId4">
            <a:extLst/>
          </a:blip>
          <a:stretch>
            <a:fillRect/>
          </a:stretch>
        </p:blipFill>
        <p:spPr>
          <a:xfrm>
            <a:off x="507713" y="907919"/>
            <a:ext cx="11176576" cy="504216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5"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126"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127"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128"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29"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30"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31" name="Text 0"/>
          <p:cNvSpPr txBox="1"/>
          <p:nvPr/>
        </p:nvSpPr>
        <p:spPr>
          <a:xfrm>
            <a:off x="901015" y="583970"/>
            <a:ext cx="6515101" cy="866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5100">
                <a:solidFill>
                  <a:srgbClr val="052334"/>
                </a:solidFill>
                <a:latin typeface="MiSans"/>
                <a:ea typeface="MiSans"/>
                <a:cs typeface="MiSans"/>
                <a:sym typeface="MiSans"/>
              </a:defRPr>
            </a:lvl1pPr>
          </a:lstStyle>
          <a:p>
            <a:pPr/>
            <a:r>
              <a:t>Experiment Results</a:t>
            </a:r>
          </a:p>
        </p:txBody>
      </p:sp>
      <p:sp>
        <p:nvSpPr>
          <p:cNvPr id="132" name="Param number: 504,258…"/>
          <p:cNvSpPr txBox="1"/>
          <p:nvPr/>
        </p:nvSpPr>
        <p:spPr>
          <a:xfrm>
            <a:off x="968998" y="2189876"/>
            <a:ext cx="8916349" cy="3468843"/>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p>
            <a:pPr>
              <a:defRPr sz="3200">
                <a:latin typeface="Calibri"/>
                <a:ea typeface="Calibri"/>
                <a:cs typeface="Calibri"/>
                <a:sym typeface="Calibri"/>
              </a:defRPr>
            </a:pPr>
            <a:r>
              <a:t>Param number: 504,258</a:t>
            </a:r>
          </a:p>
          <a:p>
            <a:pPr>
              <a:defRPr sz="3200">
                <a:latin typeface="Calibri"/>
                <a:ea typeface="Calibri"/>
                <a:cs typeface="Calibri"/>
                <a:sym typeface="Calibri"/>
              </a:defRPr>
            </a:pPr>
          </a:p>
          <a:p>
            <a:pPr>
              <a:defRPr sz="3200">
                <a:latin typeface="Calibri"/>
                <a:ea typeface="Calibri"/>
                <a:cs typeface="Calibri"/>
                <a:sym typeface="Calibri"/>
              </a:defRPr>
            </a:pPr>
            <a:r>
              <a:t>Public test accuracy: 0,7590</a:t>
            </a:r>
          </a:p>
          <a:p>
            <a:pPr>
              <a:defRPr sz="3200">
                <a:latin typeface="Calibri"/>
                <a:ea typeface="Calibri"/>
                <a:cs typeface="Calibri"/>
                <a:sym typeface="Calibri"/>
              </a:defRPr>
            </a:pPr>
          </a:p>
          <a:p>
            <a:pPr>
              <a:defRPr sz="3200">
                <a:latin typeface="Calibri"/>
                <a:ea typeface="Calibri"/>
                <a:cs typeface="Calibri"/>
                <a:sym typeface="Calibri"/>
              </a:defRPr>
            </a:pPr>
            <a:r>
              <a:t>Performance on validation set: 0,7401</a:t>
            </a:r>
          </a:p>
          <a:p>
            <a:pPr>
              <a:defRPr sz="3200">
                <a:latin typeface="Calibri"/>
                <a:ea typeface="Calibri"/>
                <a:cs typeface="Calibri"/>
                <a:sym typeface="Calibri"/>
              </a:defRPr>
            </a:pPr>
          </a:p>
          <a:p>
            <a:pPr>
              <a:defRPr sz="3200">
                <a:latin typeface="Calibri"/>
                <a:ea typeface="Calibri"/>
                <a:cs typeface="Calibri"/>
                <a:sym typeface="Calibri"/>
              </a:defRPr>
            </a:pPr>
            <a:r>
              <a:t>Performance on training set: Around 0,75 (Estimated)</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34" name="Image 0" descr="Image 0"/>
          <p:cNvPicPr>
            <a:picLocks noChangeAspect="1"/>
          </p:cNvPicPr>
          <p:nvPr/>
        </p:nvPicPr>
        <p:blipFill>
          <a:blip r:embed="rId3">
            <a:extLst/>
          </a:blip>
          <a:srcRect l="0" t="28475" r="0" b="28475"/>
          <a:stretch>
            <a:fillRect/>
          </a:stretch>
        </p:blipFill>
        <p:spPr>
          <a:xfrm>
            <a:off x="0" y="2468877"/>
            <a:ext cx="12191366" cy="1835153"/>
          </a:xfrm>
          <a:prstGeom prst="rect">
            <a:avLst/>
          </a:prstGeom>
          <a:ln w="12700">
            <a:miter lim="400000"/>
          </a:ln>
        </p:spPr>
      </p:pic>
      <p:sp>
        <p:nvSpPr>
          <p:cNvPr id="135" name="Text 0"/>
          <p:cNvSpPr txBox="1"/>
          <p:nvPr/>
        </p:nvSpPr>
        <p:spPr>
          <a:xfrm>
            <a:off x="810894" y="3133088"/>
            <a:ext cx="6515101" cy="612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400">
                <a:solidFill>
                  <a:srgbClr val="0D0D0D"/>
                </a:solidFill>
                <a:latin typeface="MiSans"/>
                <a:ea typeface="MiSans"/>
                <a:cs typeface="MiSans"/>
                <a:sym typeface="MiSans"/>
              </a:defRPr>
            </a:lvl1pPr>
          </a:lstStyle>
          <a:p>
            <a:pPr/>
            <a:r>
              <a:t>Model architecture upgrade</a:t>
            </a:r>
          </a:p>
        </p:txBody>
      </p:sp>
      <p:pic>
        <p:nvPicPr>
          <p:cNvPr id="136" name="Image 1" descr="Image 1"/>
          <p:cNvPicPr>
            <a:picLocks noChangeAspect="1"/>
          </p:cNvPicPr>
          <p:nvPr/>
        </p:nvPicPr>
        <p:blipFill>
          <a:blip r:embed="rId4">
            <a:alphaModFix amt="40000"/>
            <a:extLst/>
          </a:blip>
          <a:stretch>
            <a:fillRect/>
          </a:stretch>
        </p:blipFill>
        <p:spPr>
          <a:xfrm flipV="1">
            <a:off x="10896600" y="897888"/>
            <a:ext cx="762000" cy="76207"/>
          </a:xfrm>
          <a:prstGeom prst="rect">
            <a:avLst/>
          </a:prstGeom>
          <a:ln w="12700">
            <a:miter lim="400000"/>
          </a:ln>
        </p:spPr>
      </p:pic>
      <p:pic>
        <p:nvPicPr>
          <p:cNvPr id="137" name="Image 2" descr="Image 2"/>
          <p:cNvPicPr>
            <a:picLocks noChangeAspect="1"/>
          </p:cNvPicPr>
          <p:nvPr/>
        </p:nvPicPr>
        <p:blipFill>
          <a:blip r:embed="rId4">
            <a:alphaModFix amt="40000"/>
            <a:extLst/>
          </a:blip>
          <a:stretch>
            <a:fillRect/>
          </a:stretch>
        </p:blipFill>
        <p:spPr>
          <a:xfrm flipV="1">
            <a:off x="10896600" y="1028700"/>
            <a:ext cx="762000" cy="76200"/>
          </a:xfrm>
          <a:prstGeom prst="rect">
            <a:avLst/>
          </a:prstGeom>
          <a:ln w="12700">
            <a:miter lim="400000"/>
          </a:ln>
        </p:spPr>
      </p:pic>
      <p:sp>
        <p:nvSpPr>
          <p:cNvPr id="138" name="Shape 1"/>
          <p:cNvSpPr/>
          <p:nvPr/>
        </p:nvSpPr>
        <p:spPr>
          <a:xfrm>
            <a:off x="803814" y="5686045"/>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39" name="Shape 3"/>
          <p:cNvSpPr/>
          <p:nvPr/>
        </p:nvSpPr>
        <p:spPr>
          <a:xfrm>
            <a:off x="803814" y="5783019"/>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40" name="Shape 5"/>
          <p:cNvSpPr/>
          <p:nvPr/>
        </p:nvSpPr>
        <p:spPr>
          <a:xfrm>
            <a:off x="803814" y="587999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141" name="Image 3" descr="Image 3"/>
          <p:cNvPicPr>
            <a:picLocks noChangeAspect="1"/>
          </p:cNvPicPr>
          <p:nvPr/>
        </p:nvPicPr>
        <p:blipFill>
          <a:blip r:embed="rId5">
            <a:extLst/>
          </a:blip>
          <a:srcRect l="423" t="0" r="417" b="0"/>
          <a:stretch>
            <a:fillRect/>
          </a:stretch>
        </p:blipFill>
        <p:spPr>
          <a:xfrm flipH="1">
            <a:off x="7372346" y="1739900"/>
            <a:ext cx="3202311" cy="3228975"/>
          </a:xfrm>
          <a:prstGeom prst="rect">
            <a:avLst/>
          </a:prstGeom>
          <a:ln w="12700">
            <a:miter lim="400000"/>
          </a:ln>
        </p:spPr>
      </p:pic>
      <p:sp>
        <p:nvSpPr>
          <p:cNvPr id="142" name="Text 7"/>
          <p:cNvSpPr txBox="1"/>
          <p:nvPr/>
        </p:nvSpPr>
        <p:spPr>
          <a:xfrm>
            <a:off x="8209750" y="2654935"/>
            <a:ext cx="1527509" cy="1386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8500">
                <a:solidFill>
                  <a:srgbClr val="052334"/>
                </a:solidFill>
                <a:latin typeface="MiSans"/>
                <a:ea typeface="MiSans"/>
                <a:cs typeface="MiSans"/>
                <a:sym typeface="MiSans"/>
              </a:defRPr>
            </a:lvl1pPr>
          </a:lstStyle>
          <a:p>
            <a:pPr/>
            <a:r>
              <a:t>02</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44" name="Image 0" descr="Image 0"/>
          <p:cNvPicPr>
            <a:picLocks noChangeAspect="1"/>
          </p:cNvPicPr>
          <p:nvPr/>
        </p:nvPicPr>
        <p:blipFill>
          <a:blip r:embed="rId3">
            <a:alphaModFix amt="26000"/>
            <a:extLst/>
          </a:blip>
          <a:srcRect l="26" t="0" r="26" b="0"/>
          <a:stretch>
            <a:fillRect/>
          </a:stretch>
        </p:blipFill>
        <p:spPr>
          <a:xfrm>
            <a:off x="427348" y="509905"/>
            <a:ext cx="3984635" cy="3579496"/>
          </a:xfrm>
          <a:prstGeom prst="rect">
            <a:avLst/>
          </a:prstGeom>
          <a:ln w="12700">
            <a:miter lim="400000"/>
          </a:ln>
        </p:spPr>
      </p:pic>
      <p:pic>
        <p:nvPicPr>
          <p:cNvPr id="145" name="Image 1" descr="Image 1"/>
          <p:cNvPicPr>
            <a:picLocks noChangeAspect="1"/>
          </p:cNvPicPr>
          <p:nvPr/>
        </p:nvPicPr>
        <p:blipFill>
          <a:blip r:embed="rId4">
            <a:extLst/>
          </a:blip>
          <a:stretch>
            <a:fillRect/>
          </a:stretch>
        </p:blipFill>
        <p:spPr>
          <a:xfrm>
            <a:off x="2701288" y="2486660"/>
            <a:ext cx="9105270" cy="3916046"/>
          </a:xfrm>
          <a:prstGeom prst="rect">
            <a:avLst/>
          </a:prstGeom>
          <a:ln w="12700">
            <a:miter lim="400000"/>
          </a:ln>
        </p:spPr>
      </p:pic>
      <p:sp>
        <p:nvSpPr>
          <p:cNvPr id="146" name="Text 0"/>
          <p:cNvSpPr txBox="1"/>
          <p:nvPr/>
        </p:nvSpPr>
        <p:spPr>
          <a:xfrm>
            <a:off x="530854" y="1382393"/>
            <a:ext cx="11169662"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150000"/>
              </a:lnSpc>
              <a:defRPr sz="3600">
                <a:solidFill>
                  <a:srgbClr val="052334"/>
                </a:solidFill>
                <a:latin typeface="MiSans"/>
                <a:ea typeface="MiSans"/>
                <a:cs typeface="MiSans"/>
                <a:sym typeface="MiSans"/>
              </a:defRPr>
            </a:lvl1pPr>
          </a:lstStyle>
          <a:p>
            <a:pPr/>
            <a:r>
              <a:t>Residual Encoder Design</a:t>
            </a:r>
          </a:p>
        </p:txBody>
      </p:sp>
      <p:pic>
        <p:nvPicPr>
          <p:cNvPr id="147" name="Image 2" descr="Image 2"/>
          <p:cNvPicPr>
            <a:picLocks noChangeAspect="1"/>
          </p:cNvPicPr>
          <p:nvPr/>
        </p:nvPicPr>
        <p:blipFill>
          <a:blip r:embed="rId5">
            <a:alphaModFix amt="40000"/>
            <a:extLst/>
          </a:blip>
          <a:stretch>
            <a:fillRect/>
          </a:stretch>
        </p:blipFill>
        <p:spPr>
          <a:xfrm flipV="1">
            <a:off x="10896600" y="715644"/>
            <a:ext cx="762000" cy="78820"/>
          </a:xfrm>
          <a:prstGeom prst="rect">
            <a:avLst/>
          </a:prstGeom>
          <a:ln w="12700">
            <a:miter lim="400000"/>
          </a:ln>
        </p:spPr>
      </p:pic>
      <p:pic>
        <p:nvPicPr>
          <p:cNvPr id="148" name="Image 3" descr="Image 3"/>
          <p:cNvPicPr>
            <a:picLocks noChangeAspect="1"/>
          </p:cNvPicPr>
          <p:nvPr/>
        </p:nvPicPr>
        <p:blipFill>
          <a:blip r:embed="rId5">
            <a:alphaModFix amt="40000"/>
            <a:extLst/>
          </a:blip>
          <a:stretch>
            <a:fillRect/>
          </a:stretch>
        </p:blipFill>
        <p:spPr>
          <a:xfrm flipV="1">
            <a:off x="10896600" y="850940"/>
            <a:ext cx="762000" cy="78820"/>
          </a:xfrm>
          <a:prstGeom prst="rect">
            <a:avLst/>
          </a:prstGeom>
          <a:ln w="12700">
            <a:miter lim="400000"/>
          </a:ln>
        </p:spPr>
      </p:pic>
      <p:sp>
        <p:nvSpPr>
          <p:cNvPr id="149" name="Shape 1"/>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50" name="Shape 3"/>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51" name="Shape 5"/>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52" name="Text 7"/>
          <p:cNvSpPr txBox="1"/>
          <p:nvPr/>
        </p:nvSpPr>
        <p:spPr>
          <a:xfrm>
            <a:off x="3370579" y="3091177"/>
            <a:ext cx="371221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150000"/>
              </a:lnSpc>
              <a:defRPr sz="2000">
                <a:solidFill>
                  <a:srgbClr val="052334"/>
                </a:solidFill>
                <a:latin typeface="MiSans"/>
                <a:ea typeface="MiSans"/>
                <a:cs typeface="MiSans"/>
                <a:sym typeface="MiSans"/>
              </a:defRPr>
            </a:lvl1pPr>
          </a:lstStyle>
          <a:p>
            <a:pPr/>
            <a:r>
              <a:t>Residual block structure</a:t>
            </a:r>
          </a:p>
        </p:txBody>
      </p:sp>
      <p:sp>
        <p:nvSpPr>
          <p:cNvPr id="153" name="Text 8"/>
          <p:cNvSpPr txBox="1"/>
          <p:nvPr/>
        </p:nvSpPr>
        <p:spPr>
          <a:xfrm>
            <a:off x="3512820" y="3658870"/>
            <a:ext cx="3385821" cy="2159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A deeper encoder is built using stacked ResBlocks. Each block adopts a pre-activation structure, combined with 3×3 convolution and skip connections, which effectively alleviates the gradient vanishing problem and enhances feature reuse capabilities.</a:t>
            </a:r>
          </a:p>
        </p:txBody>
      </p:sp>
      <p:sp>
        <p:nvSpPr>
          <p:cNvPr id="154" name="Text 9"/>
          <p:cNvSpPr txBox="1"/>
          <p:nvPr/>
        </p:nvSpPr>
        <p:spPr>
          <a:xfrm>
            <a:off x="7479665" y="3091177"/>
            <a:ext cx="371221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150000"/>
              </a:lnSpc>
              <a:defRPr sz="2000">
                <a:solidFill>
                  <a:srgbClr val="052334"/>
                </a:solidFill>
                <a:latin typeface="MiSans"/>
                <a:ea typeface="MiSans"/>
                <a:cs typeface="MiSans"/>
                <a:sym typeface="MiSans"/>
              </a:defRPr>
            </a:lvl1pPr>
          </a:lstStyle>
          <a:p>
            <a:pPr/>
            <a:r>
              <a:t>Encoder advantages</a:t>
            </a:r>
          </a:p>
        </p:txBody>
      </p:sp>
      <p:sp>
        <p:nvSpPr>
          <p:cNvPr id="155" name="Text 10"/>
          <p:cNvSpPr txBox="1"/>
          <p:nvPr/>
        </p:nvSpPr>
        <p:spPr>
          <a:xfrm>
            <a:off x="7621905" y="3658870"/>
            <a:ext cx="3385821" cy="18351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With only 500,000 parameters, the network can be stacked up to 13 layers, significantly expanding the receptive field, providing highly discriminative features for subsequent comparison modules, and improving model performance.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57"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158"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159"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160"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61"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62"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163" name="Screenshot 2025-10-25 at 12.51.52.png" descr="Screenshot 2025-10-25 at 12.51.52.png"/>
          <p:cNvPicPr>
            <a:picLocks noChangeAspect="1"/>
          </p:cNvPicPr>
          <p:nvPr/>
        </p:nvPicPr>
        <p:blipFill>
          <a:blip r:embed="rId4">
            <a:extLst/>
          </a:blip>
          <a:stretch>
            <a:fillRect/>
          </a:stretch>
        </p:blipFill>
        <p:spPr>
          <a:xfrm>
            <a:off x="1038658" y="862059"/>
            <a:ext cx="10114685" cy="4828115"/>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65" name="Image 0" descr="Image 0"/>
          <p:cNvPicPr>
            <a:picLocks noChangeAspect="1"/>
          </p:cNvPicPr>
          <p:nvPr/>
        </p:nvPicPr>
        <p:blipFill>
          <a:blip r:embed="rId3">
            <a:alphaModFix amt="62000"/>
            <a:extLst/>
          </a:blip>
          <a:srcRect l="29868" t="0" r="29869" b="0"/>
          <a:stretch>
            <a:fillRect/>
          </a:stretch>
        </p:blipFill>
        <p:spPr>
          <a:xfrm>
            <a:off x="880544" y="1934845"/>
            <a:ext cx="4956185" cy="4304030"/>
          </a:xfrm>
          <a:prstGeom prst="rect">
            <a:avLst/>
          </a:prstGeom>
          <a:ln w="12700">
            <a:miter lim="400000"/>
          </a:ln>
        </p:spPr>
      </p:pic>
      <p:pic>
        <p:nvPicPr>
          <p:cNvPr id="166" name="Image 1" descr="Image 1"/>
          <p:cNvPicPr>
            <a:picLocks noChangeAspect="1"/>
          </p:cNvPicPr>
          <p:nvPr/>
        </p:nvPicPr>
        <p:blipFill>
          <a:blip r:embed="rId4">
            <a:extLst/>
          </a:blip>
          <a:srcRect l="429" t="0" r="425" b="0"/>
          <a:stretch>
            <a:fillRect/>
          </a:stretch>
        </p:blipFill>
        <p:spPr>
          <a:xfrm flipH="1">
            <a:off x="2660011" y="2142488"/>
            <a:ext cx="1247783" cy="1258574"/>
          </a:xfrm>
          <a:prstGeom prst="rect">
            <a:avLst/>
          </a:prstGeom>
          <a:ln w="12700">
            <a:miter lim="400000"/>
          </a:ln>
        </p:spPr>
      </p:pic>
      <p:sp>
        <p:nvSpPr>
          <p:cNvPr id="167" name="Text 0"/>
          <p:cNvSpPr txBox="1"/>
          <p:nvPr/>
        </p:nvSpPr>
        <p:spPr>
          <a:xfrm>
            <a:off x="732155" y="895349"/>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150000"/>
              </a:lnSpc>
              <a:defRPr sz="3600">
                <a:solidFill>
                  <a:srgbClr val="0D0D0D"/>
                </a:solidFill>
                <a:latin typeface="MiSans"/>
                <a:ea typeface="MiSans"/>
                <a:cs typeface="MiSans"/>
                <a:sym typeface="MiSans"/>
              </a:defRPr>
            </a:lvl1pPr>
          </a:lstStyle>
          <a:p>
            <a:pPr/>
            <a:r>
              <a:t>Comparison module and auxiliary head</a:t>
            </a:r>
          </a:p>
        </p:txBody>
      </p:sp>
      <p:pic>
        <p:nvPicPr>
          <p:cNvPr id="168" name="Image 2" descr="Image 2"/>
          <p:cNvPicPr>
            <a:picLocks noChangeAspect="1"/>
          </p:cNvPicPr>
          <p:nvPr/>
        </p:nvPicPr>
        <p:blipFill>
          <a:blip r:embed="rId3">
            <a:alphaModFix amt="62000"/>
            <a:extLst/>
          </a:blip>
          <a:srcRect l="29868" t="0" r="29869" b="0"/>
          <a:stretch>
            <a:fillRect/>
          </a:stretch>
        </p:blipFill>
        <p:spPr>
          <a:xfrm>
            <a:off x="6264906" y="1934845"/>
            <a:ext cx="4956181" cy="4304030"/>
          </a:xfrm>
          <a:prstGeom prst="rect">
            <a:avLst/>
          </a:prstGeom>
          <a:ln w="12700">
            <a:miter lim="400000"/>
          </a:ln>
        </p:spPr>
      </p:pic>
      <p:pic>
        <p:nvPicPr>
          <p:cNvPr id="169" name="Image 3" descr="Image 3"/>
          <p:cNvPicPr>
            <a:picLocks noChangeAspect="1"/>
          </p:cNvPicPr>
          <p:nvPr/>
        </p:nvPicPr>
        <p:blipFill>
          <a:blip r:embed="rId4">
            <a:extLst/>
          </a:blip>
          <a:srcRect l="429" t="0" r="425" b="0"/>
          <a:stretch>
            <a:fillRect/>
          </a:stretch>
        </p:blipFill>
        <p:spPr>
          <a:xfrm flipH="1">
            <a:off x="8093708" y="2142488"/>
            <a:ext cx="1247783" cy="1258574"/>
          </a:xfrm>
          <a:prstGeom prst="rect">
            <a:avLst/>
          </a:prstGeom>
          <a:ln w="12700">
            <a:miter lim="400000"/>
          </a:ln>
        </p:spPr>
      </p:pic>
      <p:pic>
        <p:nvPicPr>
          <p:cNvPr id="170" name="Image 4" descr="Image 4"/>
          <p:cNvPicPr>
            <a:picLocks noChangeAspect="1"/>
          </p:cNvPicPr>
          <p:nvPr/>
        </p:nvPicPr>
        <p:blipFill>
          <a:blip r:embed="rId5">
            <a:alphaModFix amt="40000"/>
            <a:extLst/>
          </a:blip>
          <a:stretch>
            <a:fillRect/>
          </a:stretch>
        </p:blipFill>
        <p:spPr>
          <a:xfrm flipV="1">
            <a:off x="10896600" y="715644"/>
            <a:ext cx="762000" cy="78778"/>
          </a:xfrm>
          <a:prstGeom prst="rect">
            <a:avLst/>
          </a:prstGeom>
          <a:ln w="12700">
            <a:miter lim="400000"/>
          </a:ln>
        </p:spPr>
      </p:pic>
      <p:pic>
        <p:nvPicPr>
          <p:cNvPr id="171" name="Image 5" descr="Image 5"/>
          <p:cNvPicPr>
            <a:picLocks noChangeAspect="1"/>
          </p:cNvPicPr>
          <p:nvPr/>
        </p:nvPicPr>
        <p:blipFill>
          <a:blip r:embed="rId5">
            <a:alphaModFix amt="40000"/>
            <a:extLst/>
          </a:blip>
          <a:stretch>
            <a:fillRect/>
          </a:stretch>
        </p:blipFill>
        <p:spPr>
          <a:xfrm flipV="1">
            <a:off x="10896600" y="850868"/>
            <a:ext cx="762000" cy="78778"/>
          </a:xfrm>
          <a:prstGeom prst="rect">
            <a:avLst/>
          </a:prstGeom>
          <a:ln w="12700">
            <a:miter lim="400000"/>
          </a:ln>
        </p:spPr>
      </p:pic>
      <p:sp>
        <p:nvSpPr>
          <p:cNvPr id="172" name="Text 1"/>
          <p:cNvSpPr txBox="1"/>
          <p:nvPr/>
        </p:nvSpPr>
        <p:spPr>
          <a:xfrm>
            <a:off x="2844800" y="2494277"/>
            <a:ext cx="878206"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000">
                <a:solidFill>
                  <a:srgbClr val="052334"/>
                </a:solidFill>
                <a:latin typeface="MiSans"/>
                <a:ea typeface="MiSans"/>
                <a:cs typeface="MiSans"/>
                <a:sym typeface="MiSans"/>
              </a:defRPr>
            </a:lvl1pPr>
          </a:lstStyle>
          <a:p>
            <a:pPr/>
            <a:r>
              <a:t>01</a:t>
            </a:r>
          </a:p>
        </p:txBody>
      </p:sp>
      <p:sp>
        <p:nvSpPr>
          <p:cNvPr id="173" name="Text 2"/>
          <p:cNvSpPr txBox="1"/>
          <p:nvPr/>
        </p:nvSpPr>
        <p:spPr>
          <a:xfrm>
            <a:off x="945513" y="3636962"/>
            <a:ext cx="454152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52334"/>
                </a:solidFill>
                <a:latin typeface="MiSans"/>
                <a:ea typeface="MiSans"/>
                <a:cs typeface="MiSans"/>
                <a:sym typeface="MiSans"/>
              </a:defRPr>
            </a:lvl1pPr>
          </a:lstStyle>
          <a:p>
            <a:pPr/>
            <a:r>
              <a:t>Comparing module designs</a:t>
            </a:r>
          </a:p>
        </p:txBody>
      </p:sp>
      <p:sp>
        <p:nvSpPr>
          <p:cNvPr id="174" name="Text 3"/>
          <p:cNvSpPr txBox="1"/>
          <p:nvPr/>
        </p:nvSpPr>
        <p:spPr>
          <a:xfrm>
            <a:off x="1174750" y="4018915"/>
            <a:ext cx="4083050" cy="18351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052334"/>
                </a:solidFill>
                <a:latin typeface="MiSans"/>
                <a:ea typeface="MiSans"/>
                <a:cs typeface="MiSans"/>
                <a:sym typeface="MiSans"/>
              </a:defRPr>
            </a:lvl1pPr>
          </a:lstStyle>
          <a:p>
            <a:pPr/>
            <a:r>
              <a:t>The comparison module uses a two-layer MLP+Dropout to directly perform difference mapping on the encoded double-digit features and output single-value logits. It has a simple and efficient structure and can directly complete the comparison task.</a:t>
            </a:r>
          </a:p>
        </p:txBody>
      </p:sp>
      <p:sp>
        <p:nvSpPr>
          <p:cNvPr id="175" name="Text 4"/>
          <p:cNvSpPr txBox="1"/>
          <p:nvPr/>
        </p:nvSpPr>
        <p:spPr>
          <a:xfrm>
            <a:off x="8278493" y="2494277"/>
            <a:ext cx="878207"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000">
                <a:solidFill>
                  <a:srgbClr val="052334"/>
                </a:solidFill>
                <a:latin typeface="MiSans"/>
                <a:ea typeface="MiSans"/>
                <a:cs typeface="MiSans"/>
                <a:sym typeface="MiSans"/>
              </a:defRPr>
            </a:lvl1pPr>
          </a:lstStyle>
          <a:p>
            <a:pPr/>
            <a:r>
              <a:t>02</a:t>
            </a:r>
          </a:p>
        </p:txBody>
      </p:sp>
      <p:sp>
        <p:nvSpPr>
          <p:cNvPr id="176" name="Text 5"/>
          <p:cNvSpPr txBox="1"/>
          <p:nvPr/>
        </p:nvSpPr>
        <p:spPr>
          <a:xfrm>
            <a:off x="6379209" y="3636962"/>
            <a:ext cx="454152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052334"/>
                </a:solidFill>
                <a:latin typeface="MiSans"/>
                <a:ea typeface="MiSans"/>
                <a:cs typeface="MiSans"/>
                <a:sym typeface="MiSans"/>
              </a:defRPr>
            </a:lvl1pPr>
          </a:lstStyle>
          <a:p>
            <a:pPr/>
            <a:r>
              <a:t>Auxiliary head function</a:t>
            </a:r>
          </a:p>
        </p:txBody>
      </p:sp>
      <p:sp>
        <p:nvSpPr>
          <p:cNvPr id="177" name="Text 6"/>
          <p:cNvSpPr txBox="1"/>
          <p:nvPr/>
        </p:nvSpPr>
        <p:spPr>
          <a:xfrm>
            <a:off x="6608443" y="4018915"/>
            <a:ext cx="4083056" cy="18351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052334"/>
                </a:solidFill>
                <a:latin typeface="MiSans"/>
                <a:ea typeface="MiSans"/>
                <a:cs typeface="MiSans"/>
                <a:sym typeface="MiSans"/>
              </a:defRPr>
            </a:lvl1pPr>
          </a:lstStyle>
          <a:p>
            <a:pPr/>
            <a:r>
              <a:t>The symmetric auxiliary classifier simultaneously predicts the left and right digit categories during the training phase to strengthen feature learning. It can be discarded during the inference phase without adding additional computational burden, effectively improving model performance.</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79"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180"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181"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182"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83"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84"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185" name="Screenshot 2025-10-25 at 13.53.52.png" descr="Screenshot 2025-10-25 at 13.53.52.png"/>
          <p:cNvPicPr>
            <a:picLocks noChangeAspect="1"/>
          </p:cNvPicPr>
          <p:nvPr/>
        </p:nvPicPr>
        <p:blipFill>
          <a:blip r:embed="rId4">
            <a:extLst/>
          </a:blip>
          <a:stretch>
            <a:fillRect/>
          </a:stretch>
        </p:blipFill>
        <p:spPr>
          <a:xfrm>
            <a:off x="1110997" y="682648"/>
            <a:ext cx="10434437" cy="506111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87" name="Image 0" descr="Image 0"/>
          <p:cNvPicPr>
            <a:picLocks noChangeAspect="1"/>
          </p:cNvPicPr>
          <p:nvPr/>
        </p:nvPicPr>
        <p:blipFill>
          <a:blip r:embed="rId3">
            <a:extLst/>
          </a:blip>
          <a:srcRect l="0" t="28475" r="0" b="28475"/>
          <a:stretch>
            <a:fillRect/>
          </a:stretch>
        </p:blipFill>
        <p:spPr>
          <a:xfrm>
            <a:off x="0" y="2468877"/>
            <a:ext cx="12191366" cy="1835153"/>
          </a:xfrm>
          <a:prstGeom prst="rect">
            <a:avLst/>
          </a:prstGeom>
          <a:ln w="12700">
            <a:miter lim="400000"/>
          </a:ln>
        </p:spPr>
      </p:pic>
      <p:sp>
        <p:nvSpPr>
          <p:cNvPr id="188" name="Text 0"/>
          <p:cNvSpPr txBox="1"/>
          <p:nvPr/>
        </p:nvSpPr>
        <p:spPr>
          <a:xfrm>
            <a:off x="810894" y="3133088"/>
            <a:ext cx="6515101" cy="612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400">
                <a:solidFill>
                  <a:srgbClr val="0D0D0D"/>
                </a:solidFill>
                <a:latin typeface="MiSans"/>
                <a:ea typeface="MiSans"/>
                <a:cs typeface="MiSans"/>
                <a:sym typeface="MiSans"/>
              </a:defRPr>
            </a:lvl1pPr>
          </a:lstStyle>
          <a:p>
            <a:pPr/>
            <a:r>
              <a:t>Training strategy optimization</a:t>
            </a:r>
          </a:p>
        </p:txBody>
      </p:sp>
      <p:pic>
        <p:nvPicPr>
          <p:cNvPr id="189" name="Image 1" descr="Image 1"/>
          <p:cNvPicPr>
            <a:picLocks noChangeAspect="1"/>
          </p:cNvPicPr>
          <p:nvPr/>
        </p:nvPicPr>
        <p:blipFill>
          <a:blip r:embed="rId4">
            <a:alphaModFix amt="40000"/>
            <a:extLst/>
          </a:blip>
          <a:stretch>
            <a:fillRect/>
          </a:stretch>
        </p:blipFill>
        <p:spPr>
          <a:xfrm flipV="1">
            <a:off x="10896600" y="897888"/>
            <a:ext cx="762000" cy="76207"/>
          </a:xfrm>
          <a:prstGeom prst="rect">
            <a:avLst/>
          </a:prstGeom>
          <a:ln w="12700">
            <a:miter lim="400000"/>
          </a:ln>
        </p:spPr>
      </p:pic>
      <p:pic>
        <p:nvPicPr>
          <p:cNvPr id="190" name="Image 2" descr="Image 2"/>
          <p:cNvPicPr>
            <a:picLocks noChangeAspect="1"/>
          </p:cNvPicPr>
          <p:nvPr/>
        </p:nvPicPr>
        <p:blipFill>
          <a:blip r:embed="rId4">
            <a:alphaModFix amt="40000"/>
            <a:extLst/>
          </a:blip>
          <a:stretch>
            <a:fillRect/>
          </a:stretch>
        </p:blipFill>
        <p:spPr>
          <a:xfrm flipV="1">
            <a:off x="10896600" y="1028700"/>
            <a:ext cx="762000" cy="76200"/>
          </a:xfrm>
          <a:prstGeom prst="rect">
            <a:avLst/>
          </a:prstGeom>
          <a:ln w="12700">
            <a:miter lim="400000"/>
          </a:ln>
        </p:spPr>
      </p:pic>
      <p:sp>
        <p:nvSpPr>
          <p:cNvPr id="191" name="Shape 1"/>
          <p:cNvSpPr/>
          <p:nvPr/>
        </p:nvSpPr>
        <p:spPr>
          <a:xfrm>
            <a:off x="803814" y="5686045"/>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92" name="Shape 3"/>
          <p:cNvSpPr/>
          <p:nvPr/>
        </p:nvSpPr>
        <p:spPr>
          <a:xfrm>
            <a:off x="803814" y="5783019"/>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193" name="Shape 5"/>
          <p:cNvSpPr/>
          <p:nvPr/>
        </p:nvSpPr>
        <p:spPr>
          <a:xfrm>
            <a:off x="803814" y="587999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194" name="Image 3" descr="Image 3"/>
          <p:cNvPicPr>
            <a:picLocks noChangeAspect="1"/>
          </p:cNvPicPr>
          <p:nvPr/>
        </p:nvPicPr>
        <p:blipFill>
          <a:blip r:embed="rId5">
            <a:extLst/>
          </a:blip>
          <a:srcRect l="423" t="0" r="417" b="0"/>
          <a:stretch>
            <a:fillRect/>
          </a:stretch>
        </p:blipFill>
        <p:spPr>
          <a:xfrm flipH="1">
            <a:off x="7372346" y="1739900"/>
            <a:ext cx="3202311" cy="3228975"/>
          </a:xfrm>
          <a:prstGeom prst="rect">
            <a:avLst/>
          </a:prstGeom>
          <a:ln w="12700">
            <a:miter lim="400000"/>
          </a:ln>
        </p:spPr>
      </p:pic>
      <p:sp>
        <p:nvSpPr>
          <p:cNvPr id="195" name="Text 7"/>
          <p:cNvSpPr txBox="1"/>
          <p:nvPr/>
        </p:nvSpPr>
        <p:spPr>
          <a:xfrm>
            <a:off x="8209750" y="2654935"/>
            <a:ext cx="1527509" cy="1386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8500">
                <a:solidFill>
                  <a:srgbClr val="052334"/>
                </a:solidFill>
                <a:latin typeface="MiSans"/>
                <a:ea typeface="MiSans"/>
                <a:cs typeface="MiSans"/>
                <a:sym typeface="MiSans"/>
              </a:defRPr>
            </a:lvl1pPr>
          </a:lstStyle>
          <a:p>
            <a:pPr/>
            <a:r>
              <a:t>03</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97" name="Text 0"/>
          <p:cNvSpPr txBox="1"/>
          <p:nvPr/>
        </p:nvSpPr>
        <p:spPr>
          <a:xfrm>
            <a:off x="732155" y="1047749"/>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Mixed Precision and Cosine Annealing</a:t>
            </a:r>
          </a:p>
        </p:txBody>
      </p:sp>
      <p:sp>
        <p:nvSpPr>
          <p:cNvPr id="198"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199"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200"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201"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02"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03"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04" name="Text 8"/>
          <p:cNvSpPr txBox="1"/>
          <p:nvPr/>
        </p:nvSpPr>
        <p:spPr>
          <a:xfrm>
            <a:off x="4057650" y="2279013"/>
            <a:ext cx="7212966"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2000">
                <a:solidFill>
                  <a:srgbClr val="052334"/>
                </a:solidFill>
                <a:latin typeface="MiSans"/>
                <a:ea typeface="MiSans"/>
                <a:cs typeface="MiSans"/>
                <a:sym typeface="MiSans"/>
              </a:defRPr>
            </a:lvl1pPr>
          </a:lstStyle>
          <a:p>
            <a:pPr/>
            <a:r>
              <a:t>Mixed Precision Training</a:t>
            </a:r>
          </a:p>
        </p:txBody>
      </p:sp>
      <p:sp>
        <p:nvSpPr>
          <p:cNvPr id="205" name="Text 9"/>
          <p:cNvSpPr txBox="1"/>
          <p:nvPr/>
        </p:nvSpPr>
        <p:spPr>
          <a:xfrm>
            <a:off x="4064634" y="2726052"/>
            <a:ext cx="7212966" cy="86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Enabling PyTorch AMP, combined with FP16 forward and FP32 master weights, increases training speed by approximately 30%, significantly reduces graphics memory usage, and effectively accelerates the model training process.</a:t>
            </a:r>
          </a:p>
        </p:txBody>
      </p:sp>
      <p:sp>
        <p:nvSpPr>
          <p:cNvPr id="206" name="Text 10"/>
          <p:cNvSpPr txBox="1"/>
          <p:nvPr/>
        </p:nvSpPr>
        <p:spPr>
          <a:xfrm>
            <a:off x="4057650" y="4157343"/>
            <a:ext cx="72136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2000">
                <a:solidFill>
                  <a:srgbClr val="052334"/>
                </a:solidFill>
                <a:latin typeface="MiSans"/>
                <a:ea typeface="MiSans"/>
                <a:cs typeface="MiSans"/>
                <a:sym typeface="MiSans"/>
              </a:defRPr>
            </a:lvl1pPr>
          </a:lstStyle>
          <a:p>
            <a:pPr/>
            <a:r>
              <a:t>Cosine annealing learning rate</a:t>
            </a:r>
          </a:p>
        </p:txBody>
      </p:sp>
      <p:sp>
        <p:nvSpPr>
          <p:cNvPr id="207" name="Text 11"/>
          <p:cNvSpPr txBox="1"/>
          <p:nvPr/>
        </p:nvSpPr>
        <p:spPr>
          <a:xfrm>
            <a:off x="4057650" y="4629784"/>
            <a:ext cx="7212966" cy="86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By using CosineAnnealingLR, the learning rate decreases smoothly within the cycle, helping the model to converge stably to the optimal verification point within 13 epochs without manual parameter adjustment, improving training stability.</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09" name="Text 0"/>
          <p:cNvSpPr txBox="1"/>
          <p:nvPr/>
        </p:nvSpPr>
        <p:spPr>
          <a:xfrm>
            <a:off x="1016000" y="955034"/>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Regularization and data augmentation</a:t>
            </a:r>
          </a:p>
        </p:txBody>
      </p:sp>
      <p:pic>
        <p:nvPicPr>
          <p:cNvPr id="210" name="Image 0" descr="Image 0"/>
          <p:cNvPicPr>
            <a:picLocks noChangeAspect="1"/>
          </p:cNvPicPr>
          <p:nvPr/>
        </p:nvPicPr>
        <p:blipFill>
          <a:blip r:embed="rId3">
            <a:extLst/>
          </a:blip>
          <a:srcRect l="429" t="0" r="424" b="0"/>
          <a:stretch>
            <a:fillRect/>
          </a:stretch>
        </p:blipFill>
        <p:spPr>
          <a:xfrm flipH="1">
            <a:off x="1319527" y="2118995"/>
            <a:ext cx="1247779" cy="1258577"/>
          </a:xfrm>
          <a:prstGeom prst="rect">
            <a:avLst/>
          </a:prstGeom>
          <a:ln w="12700">
            <a:miter lim="400000"/>
          </a:ln>
        </p:spPr>
      </p:pic>
      <p:pic>
        <p:nvPicPr>
          <p:cNvPr id="211" name="Image 1" descr="Image 1"/>
          <p:cNvPicPr>
            <a:picLocks noChangeAspect="1"/>
          </p:cNvPicPr>
          <p:nvPr/>
        </p:nvPicPr>
        <p:blipFill>
          <a:blip r:embed="rId3">
            <a:extLst/>
          </a:blip>
          <a:srcRect l="429" t="0" r="424" b="0"/>
          <a:stretch>
            <a:fillRect/>
          </a:stretch>
        </p:blipFill>
        <p:spPr>
          <a:xfrm flipH="1">
            <a:off x="1319527" y="4100195"/>
            <a:ext cx="1247779" cy="1258577"/>
          </a:xfrm>
          <a:prstGeom prst="rect">
            <a:avLst/>
          </a:prstGeom>
          <a:ln w="12700">
            <a:miter lim="400000"/>
          </a:ln>
        </p:spPr>
      </p:pic>
      <p:pic>
        <p:nvPicPr>
          <p:cNvPr id="212" name="Image 2" descr="Image 2"/>
          <p:cNvPicPr>
            <a:picLocks noChangeAspect="1"/>
          </p:cNvPicPr>
          <p:nvPr/>
        </p:nvPicPr>
        <p:blipFill>
          <a:blip r:embed="rId4">
            <a:alphaModFix amt="40000"/>
            <a:extLst/>
          </a:blip>
          <a:stretch>
            <a:fillRect/>
          </a:stretch>
        </p:blipFill>
        <p:spPr>
          <a:xfrm flipV="1">
            <a:off x="10896600" y="715644"/>
            <a:ext cx="762000" cy="78820"/>
          </a:xfrm>
          <a:prstGeom prst="rect">
            <a:avLst/>
          </a:prstGeom>
          <a:ln w="12700">
            <a:miter lim="400000"/>
          </a:ln>
        </p:spPr>
      </p:pic>
      <p:pic>
        <p:nvPicPr>
          <p:cNvPr id="213" name="Image 3" descr="Image 3"/>
          <p:cNvPicPr>
            <a:picLocks noChangeAspect="1"/>
          </p:cNvPicPr>
          <p:nvPr/>
        </p:nvPicPr>
        <p:blipFill>
          <a:blip r:embed="rId4">
            <a:alphaModFix amt="40000"/>
            <a:extLst/>
          </a:blip>
          <a:stretch>
            <a:fillRect/>
          </a:stretch>
        </p:blipFill>
        <p:spPr>
          <a:xfrm flipV="1">
            <a:off x="10896600" y="850940"/>
            <a:ext cx="762000" cy="78820"/>
          </a:xfrm>
          <a:prstGeom prst="rect">
            <a:avLst/>
          </a:prstGeom>
          <a:ln w="12700">
            <a:miter lim="400000"/>
          </a:ln>
        </p:spPr>
      </p:pic>
      <p:sp>
        <p:nvSpPr>
          <p:cNvPr id="214" name="Shape 1"/>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15" name="Shape 3"/>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16" name="Shape 5"/>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17" name="Text 7"/>
          <p:cNvSpPr txBox="1"/>
          <p:nvPr/>
        </p:nvSpPr>
        <p:spPr>
          <a:xfrm>
            <a:off x="1504313" y="2470785"/>
            <a:ext cx="878207"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000">
                <a:solidFill>
                  <a:srgbClr val="052334"/>
                </a:solidFill>
                <a:latin typeface="MiSans"/>
                <a:ea typeface="MiSans"/>
                <a:cs typeface="MiSans"/>
                <a:sym typeface="MiSans"/>
              </a:defRPr>
            </a:lvl1pPr>
          </a:lstStyle>
          <a:p>
            <a:pPr/>
            <a:r>
              <a:t>01</a:t>
            </a:r>
          </a:p>
        </p:txBody>
      </p:sp>
      <p:sp>
        <p:nvSpPr>
          <p:cNvPr id="218" name="Text 8"/>
          <p:cNvSpPr txBox="1"/>
          <p:nvPr/>
        </p:nvSpPr>
        <p:spPr>
          <a:xfrm>
            <a:off x="2770502" y="2134866"/>
            <a:ext cx="773239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2000">
                <a:solidFill>
                  <a:srgbClr val="052334"/>
                </a:solidFill>
                <a:latin typeface="MiSans"/>
                <a:ea typeface="MiSans"/>
                <a:cs typeface="MiSans"/>
                <a:sym typeface="MiSans"/>
              </a:defRPr>
            </a:lvl1pPr>
          </a:lstStyle>
          <a:p>
            <a:pPr/>
            <a:r>
              <a:t>Regularization techniques</a:t>
            </a:r>
          </a:p>
        </p:txBody>
      </p:sp>
      <p:sp>
        <p:nvSpPr>
          <p:cNvPr id="219" name="Text 9"/>
          <p:cNvSpPr txBox="1"/>
          <p:nvPr/>
        </p:nvSpPr>
        <p:spPr>
          <a:xfrm>
            <a:off x="2770502" y="2576195"/>
            <a:ext cx="7731760" cy="5397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gradient clipping upper limit is 1.0 to prevent gradient explosion, and label smoothing ε=0.05 reduces the risk of model overfitting and improves the generalization ability of the model.</a:t>
            </a:r>
          </a:p>
        </p:txBody>
      </p:sp>
      <p:sp>
        <p:nvSpPr>
          <p:cNvPr id="220" name="Text 10"/>
          <p:cNvSpPr txBox="1"/>
          <p:nvPr/>
        </p:nvSpPr>
        <p:spPr>
          <a:xfrm>
            <a:off x="1504313" y="4451984"/>
            <a:ext cx="878207"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000">
                <a:solidFill>
                  <a:srgbClr val="052334"/>
                </a:solidFill>
                <a:latin typeface="MiSans"/>
                <a:ea typeface="MiSans"/>
                <a:cs typeface="MiSans"/>
                <a:sym typeface="MiSans"/>
              </a:defRPr>
            </a:lvl1pPr>
          </a:lstStyle>
          <a:p>
            <a:pPr/>
            <a:r>
              <a:t>02</a:t>
            </a:r>
          </a:p>
        </p:txBody>
      </p:sp>
      <p:sp>
        <p:nvSpPr>
          <p:cNvPr id="221" name="Text 11"/>
          <p:cNvSpPr txBox="1"/>
          <p:nvPr/>
        </p:nvSpPr>
        <p:spPr>
          <a:xfrm>
            <a:off x="2770502" y="4144007"/>
            <a:ext cx="773239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2000">
                <a:solidFill>
                  <a:srgbClr val="052334"/>
                </a:solidFill>
                <a:latin typeface="MiSans"/>
                <a:ea typeface="MiSans"/>
                <a:cs typeface="MiSans"/>
                <a:sym typeface="MiSans"/>
              </a:defRPr>
            </a:lvl1pPr>
          </a:lstStyle>
          <a:p>
            <a:pPr/>
            <a:r>
              <a:t>Data augmentation strategy</a:t>
            </a:r>
          </a:p>
        </p:txBody>
      </p:sp>
      <p:sp>
        <p:nvSpPr>
          <p:cNvPr id="222" name="Text 12"/>
          <p:cNvSpPr txBox="1"/>
          <p:nvPr/>
        </p:nvSpPr>
        <p:spPr>
          <a:xfrm>
            <a:off x="2770502" y="4587875"/>
            <a:ext cx="7731760" cy="863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core is to randomly swap the left and right images and flip the labels, which is equivalent to doubling the number of samples. Brightness, contrast, Gaussian noise, and rotation are not yet online due to dimensional alignment issues and will be further optimized later.</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24"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225"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226"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227"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28"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29"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230" name="Screenshot 2025-10-25 at 14.00.12.png" descr="Screenshot 2025-10-25 at 14.00.12.png"/>
          <p:cNvPicPr>
            <a:picLocks noChangeAspect="1"/>
          </p:cNvPicPr>
          <p:nvPr/>
        </p:nvPicPr>
        <p:blipFill>
          <a:blip r:embed="rId4">
            <a:extLst/>
          </a:blip>
          <a:stretch>
            <a:fillRect/>
          </a:stretch>
        </p:blipFill>
        <p:spPr>
          <a:xfrm>
            <a:off x="979749" y="986233"/>
            <a:ext cx="10607517" cy="4955803"/>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32" name="Image 0" descr="Image 0"/>
          <p:cNvPicPr>
            <a:picLocks noChangeAspect="1"/>
          </p:cNvPicPr>
          <p:nvPr/>
        </p:nvPicPr>
        <p:blipFill>
          <a:blip r:embed="rId3">
            <a:extLst/>
          </a:blip>
          <a:srcRect l="0" t="28475" r="0" b="28475"/>
          <a:stretch>
            <a:fillRect/>
          </a:stretch>
        </p:blipFill>
        <p:spPr>
          <a:xfrm>
            <a:off x="0" y="2468877"/>
            <a:ext cx="12191366" cy="1835153"/>
          </a:xfrm>
          <a:prstGeom prst="rect">
            <a:avLst/>
          </a:prstGeom>
          <a:ln w="12700">
            <a:miter lim="400000"/>
          </a:ln>
        </p:spPr>
      </p:pic>
      <p:sp>
        <p:nvSpPr>
          <p:cNvPr id="233" name="Text 0"/>
          <p:cNvSpPr txBox="1"/>
          <p:nvPr/>
        </p:nvSpPr>
        <p:spPr>
          <a:xfrm>
            <a:off x="810894" y="3133088"/>
            <a:ext cx="6515101" cy="612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400">
                <a:solidFill>
                  <a:srgbClr val="0D0D0D"/>
                </a:solidFill>
                <a:latin typeface="MiSans"/>
                <a:ea typeface="MiSans"/>
                <a:cs typeface="MiSans"/>
                <a:sym typeface="MiSans"/>
              </a:defRPr>
            </a:lvl1pPr>
          </a:lstStyle>
          <a:p>
            <a:pPr/>
            <a:r>
              <a:t>Losses and Assessments</a:t>
            </a:r>
          </a:p>
        </p:txBody>
      </p:sp>
      <p:pic>
        <p:nvPicPr>
          <p:cNvPr id="234" name="Image 1" descr="Image 1"/>
          <p:cNvPicPr>
            <a:picLocks noChangeAspect="1"/>
          </p:cNvPicPr>
          <p:nvPr/>
        </p:nvPicPr>
        <p:blipFill>
          <a:blip r:embed="rId4">
            <a:alphaModFix amt="40000"/>
            <a:extLst/>
          </a:blip>
          <a:stretch>
            <a:fillRect/>
          </a:stretch>
        </p:blipFill>
        <p:spPr>
          <a:xfrm flipV="1">
            <a:off x="10896600" y="897888"/>
            <a:ext cx="762000" cy="76207"/>
          </a:xfrm>
          <a:prstGeom prst="rect">
            <a:avLst/>
          </a:prstGeom>
          <a:ln w="12700">
            <a:miter lim="400000"/>
          </a:ln>
        </p:spPr>
      </p:pic>
      <p:pic>
        <p:nvPicPr>
          <p:cNvPr id="235" name="Image 2" descr="Image 2"/>
          <p:cNvPicPr>
            <a:picLocks noChangeAspect="1"/>
          </p:cNvPicPr>
          <p:nvPr/>
        </p:nvPicPr>
        <p:blipFill>
          <a:blip r:embed="rId4">
            <a:alphaModFix amt="40000"/>
            <a:extLst/>
          </a:blip>
          <a:stretch>
            <a:fillRect/>
          </a:stretch>
        </p:blipFill>
        <p:spPr>
          <a:xfrm flipV="1">
            <a:off x="10896600" y="1028700"/>
            <a:ext cx="762000" cy="76200"/>
          </a:xfrm>
          <a:prstGeom prst="rect">
            <a:avLst/>
          </a:prstGeom>
          <a:ln w="12700">
            <a:miter lim="400000"/>
          </a:ln>
        </p:spPr>
      </p:pic>
      <p:sp>
        <p:nvSpPr>
          <p:cNvPr id="236" name="Shape 1"/>
          <p:cNvSpPr/>
          <p:nvPr/>
        </p:nvSpPr>
        <p:spPr>
          <a:xfrm>
            <a:off x="803814" y="5686045"/>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37" name="Shape 3"/>
          <p:cNvSpPr/>
          <p:nvPr/>
        </p:nvSpPr>
        <p:spPr>
          <a:xfrm>
            <a:off x="803814" y="5783019"/>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38" name="Shape 5"/>
          <p:cNvSpPr/>
          <p:nvPr/>
        </p:nvSpPr>
        <p:spPr>
          <a:xfrm>
            <a:off x="803814" y="587999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239" name="Image 3" descr="Image 3"/>
          <p:cNvPicPr>
            <a:picLocks noChangeAspect="1"/>
          </p:cNvPicPr>
          <p:nvPr/>
        </p:nvPicPr>
        <p:blipFill>
          <a:blip r:embed="rId5">
            <a:extLst/>
          </a:blip>
          <a:srcRect l="423" t="0" r="417" b="0"/>
          <a:stretch>
            <a:fillRect/>
          </a:stretch>
        </p:blipFill>
        <p:spPr>
          <a:xfrm flipH="1">
            <a:off x="7372346" y="1739900"/>
            <a:ext cx="3202311" cy="3228975"/>
          </a:xfrm>
          <a:prstGeom prst="rect">
            <a:avLst/>
          </a:prstGeom>
          <a:ln w="12700">
            <a:miter lim="400000"/>
          </a:ln>
        </p:spPr>
      </p:pic>
      <p:sp>
        <p:nvSpPr>
          <p:cNvPr id="240" name="Text 7"/>
          <p:cNvSpPr txBox="1"/>
          <p:nvPr/>
        </p:nvSpPr>
        <p:spPr>
          <a:xfrm>
            <a:off x="8209750" y="2654935"/>
            <a:ext cx="1527509" cy="1386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8500">
                <a:solidFill>
                  <a:srgbClr val="052334"/>
                </a:solidFill>
                <a:latin typeface="MiSans"/>
                <a:ea typeface="MiSans"/>
                <a:cs typeface="MiSans"/>
                <a:sym typeface="MiSans"/>
              </a:defRPr>
            </a:lvl1pPr>
          </a:lstStyle>
          <a:p>
            <a:pPr/>
            <a:r>
              <a:t>04</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42" name="Image 0" descr="Image 0"/>
          <p:cNvPicPr>
            <a:picLocks noChangeAspect="1"/>
          </p:cNvPicPr>
          <p:nvPr/>
        </p:nvPicPr>
        <p:blipFill>
          <a:blip r:embed="rId3">
            <a:alphaModFix amt="50000"/>
            <a:extLst/>
          </a:blip>
          <a:srcRect l="0" t="11400" r="0" b="11399"/>
          <a:stretch>
            <a:fillRect/>
          </a:stretch>
        </p:blipFill>
        <p:spPr>
          <a:xfrm>
            <a:off x="0" y="2220595"/>
            <a:ext cx="12192635" cy="3291207"/>
          </a:xfrm>
          <a:prstGeom prst="rect">
            <a:avLst/>
          </a:prstGeom>
          <a:ln w="12700">
            <a:miter lim="400000"/>
          </a:ln>
        </p:spPr>
      </p:pic>
      <p:sp>
        <p:nvSpPr>
          <p:cNvPr id="243" name="Text 0"/>
          <p:cNvSpPr txBox="1"/>
          <p:nvPr/>
        </p:nvSpPr>
        <p:spPr>
          <a:xfrm>
            <a:off x="732155" y="1047749"/>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Main and auxiliary loss combination</a:t>
            </a:r>
          </a:p>
        </p:txBody>
      </p:sp>
      <p:pic>
        <p:nvPicPr>
          <p:cNvPr id="244" name="Image 1" descr="Image 1"/>
          <p:cNvPicPr>
            <a:picLocks noChangeAspect="1"/>
          </p:cNvPicPr>
          <p:nvPr/>
        </p:nvPicPr>
        <p:blipFill>
          <a:blip r:embed="rId4">
            <a:alphaModFix amt="40000"/>
            <a:extLst/>
          </a:blip>
          <a:stretch>
            <a:fillRect/>
          </a:stretch>
        </p:blipFill>
        <p:spPr>
          <a:xfrm flipV="1">
            <a:off x="10896600" y="715644"/>
            <a:ext cx="762000" cy="78820"/>
          </a:xfrm>
          <a:prstGeom prst="rect">
            <a:avLst/>
          </a:prstGeom>
          <a:ln w="12700">
            <a:miter lim="400000"/>
          </a:ln>
        </p:spPr>
      </p:pic>
      <p:pic>
        <p:nvPicPr>
          <p:cNvPr id="245" name="Image 2" descr="Image 2"/>
          <p:cNvPicPr>
            <a:picLocks noChangeAspect="1"/>
          </p:cNvPicPr>
          <p:nvPr/>
        </p:nvPicPr>
        <p:blipFill>
          <a:blip r:embed="rId4">
            <a:alphaModFix amt="40000"/>
            <a:extLst/>
          </a:blip>
          <a:stretch>
            <a:fillRect/>
          </a:stretch>
        </p:blipFill>
        <p:spPr>
          <a:xfrm flipV="1">
            <a:off x="10896600" y="850940"/>
            <a:ext cx="762000" cy="78820"/>
          </a:xfrm>
          <a:prstGeom prst="rect">
            <a:avLst/>
          </a:prstGeom>
          <a:ln w="12700">
            <a:miter lim="400000"/>
          </a:ln>
        </p:spPr>
      </p:pic>
      <p:sp>
        <p:nvSpPr>
          <p:cNvPr id="246" name="Shape 1"/>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47" name="Shape 3"/>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48" name="Shape 5"/>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249" name="Image 4" descr="Image 4"/>
          <p:cNvPicPr>
            <a:picLocks noChangeAspect="1"/>
          </p:cNvPicPr>
          <p:nvPr/>
        </p:nvPicPr>
        <p:blipFill>
          <a:blip r:embed="rId5">
            <a:extLst/>
          </a:blip>
          <a:srcRect l="0" t="573" r="0" b="571"/>
          <a:stretch>
            <a:fillRect/>
          </a:stretch>
        </p:blipFill>
        <p:spPr>
          <a:xfrm>
            <a:off x="0" y="-5"/>
            <a:ext cx="276860" cy="1766578"/>
          </a:xfrm>
          <a:prstGeom prst="rect">
            <a:avLst/>
          </a:prstGeom>
          <a:ln w="12700">
            <a:miter lim="400000"/>
          </a:ln>
        </p:spPr>
      </p:pic>
      <p:pic>
        <p:nvPicPr>
          <p:cNvPr id="250" name="Image 5" descr="Image 5"/>
          <p:cNvPicPr>
            <a:picLocks noChangeAspect="1"/>
          </p:cNvPicPr>
          <p:nvPr/>
        </p:nvPicPr>
        <p:blipFill>
          <a:blip r:embed="rId6">
            <a:extLst/>
          </a:blip>
          <a:srcRect l="48434" t="0" r="0" b="0"/>
          <a:stretch>
            <a:fillRect/>
          </a:stretch>
        </p:blipFill>
        <p:spPr>
          <a:xfrm flipH="1">
            <a:off x="6877349" y="1895144"/>
            <a:ext cx="775675" cy="1503501"/>
          </a:xfrm>
          <a:prstGeom prst="rect">
            <a:avLst/>
          </a:prstGeom>
          <a:ln w="12700">
            <a:miter lim="400000"/>
          </a:ln>
        </p:spPr>
      </p:pic>
      <p:sp>
        <p:nvSpPr>
          <p:cNvPr id="251" name="Text 7"/>
          <p:cNvSpPr txBox="1"/>
          <p:nvPr/>
        </p:nvSpPr>
        <p:spPr>
          <a:xfrm>
            <a:off x="732152" y="2709227"/>
            <a:ext cx="426657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Main loss function</a:t>
            </a:r>
          </a:p>
        </p:txBody>
      </p:sp>
      <p:sp>
        <p:nvSpPr>
          <p:cNvPr id="252" name="Text 8"/>
          <p:cNvSpPr txBox="1"/>
          <p:nvPr/>
        </p:nvSpPr>
        <p:spPr>
          <a:xfrm>
            <a:off x="732152" y="3054350"/>
            <a:ext cx="3596646" cy="151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main loss uses BCE loss with positive sample weights, which effectively alleviates the problem of uneven sample classification in the dataset and improves the model's ability to handle imbalanced data.</a:t>
            </a:r>
          </a:p>
        </p:txBody>
      </p:sp>
      <p:sp>
        <p:nvSpPr>
          <p:cNvPr id="253" name="Text 9"/>
          <p:cNvSpPr txBox="1"/>
          <p:nvPr/>
        </p:nvSpPr>
        <p:spPr>
          <a:xfrm>
            <a:off x="7999730" y="2688270"/>
            <a:ext cx="386016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Auxiliary loss function</a:t>
            </a:r>
          </a:p>
        </p:txBody>
      </p:sp>
      <p:sp>
        <p:nvSpPr>
          <p:cNvPr id="254" name="Text 10"/>
          <p:cNvSpPr txBox="1"/>
          <p:nvPr/>
        </p:nvSpPr>
        <p:spPr>
          <a:xfrm>
            <a:off x="7999730" y="3049270"/>
            <a:ext cx="3596643" cy="151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auxiliary loss is the sum of the left and right digit cross entropy, and the weight is set to 0.3. Through joint back propagation, the digital feature extraction is strengthened and the model performance is improved.</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56" name="Image 0" descr="Image 0"/>
          <p:cNvPicPr>
            <a:picLocks noChangeAspect="1"/>
          </p:cNvPicPr>
          <p:nvPr/>
        </p:nvPicPr>
        <p:blipFill>
          <a:blip r:embed="rId3">
            <a:alphaModFix amt="50000"/>
            <a:extLst/>
          </a:blip>
          <a:srcRect l="0" t="11399" r="0" b="11400"/>
          <a:stretch>
            <a:fillRect/>
          </a:stretch>
        </p:blipFill>
        <p:spPr>
          <a:xfrm>
            <a:off x="0" y="2220595"/>
            <a:ext cx="12192635" cy="3291207"/>
          </a:xfrm>
          <a:prstGeom prst="rect">
            <a:avLst/>
          </a:prstGeom>
          <a:ln w="12700">
            <a:miter lim="400000"/>
          </a:ln>
        </p:spPr>
      </p:pic>
      <p:sp>
        <p:nvSpPr>
          <p:cNvPr id="257" name="Text 0"/>
          <p:cNvSpPr txBox="1"/>
          <p:nvPr/>
        </p:nvSpPr>
        <p:spPr>
          <a:xfrm>
            <a:off x="732155" y="1047749"/>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Early Stopping</a:t>
            </a:r>
          </a:p>
        </p:txBody>
      </p:sp>
      <p:pic>
        <p:nvPicPr>
          <p:cNvPr id="258" name="Image 1" descr="Image 1"/>
          <p:cNvPicPr>
            <a:picLocks noChangeAspect="1"/>
          </p:cNvPicPr>
          <p:nvPr/>
        </p:nvPicPr>
        <p:blipFill>
          <a:blip r:embed="rId4">
            <a:alphaModFix amt="40000"/>
            <a:extLst/>
          </a:blip>
          <a:stretch>
            <a:fillRect/>
          </a:stretch>
        </p:blipFill>
        <p:spPr>
          <a:xfrm flipV="1">
            <a:off x="10896600" y="715644"/>
            <a:ext cx="762000" cy="78820"/>
          </a:xfrm>
          <a:prstGeom prst="rect">
            <a:avLst/>
          </a:prstGeom>
          <a:ln w="12700">
            <a:miter lim="400000"/>
          </a:ln>
        </p:spPr>
      </p:pic>
      <p:pic>
        <p:nvPicPr>
          <p:cNvPr id="259" name="Image 2" descr="Image 2"/>
          <p:cNvPicPr>
            <a:picLocks noChangeAspect="1"/>
          </p:cNvPicPr>
          <p:nvPr/>
        </p:nvPicPr>
        <p:blipFill>
          <a:blip r:embed="rId4">
            <a:alphaModFix amt="40000"/>
            <a:extLst/>
          </a:blip>
          <a:stretch>
            <a:fillRect/>
          </a:stretch>
        </p:blipFill>
        <p:spPr>
          <a:xfrm flipV="1">
            <a:off x="10896600" y="850940"/>
            <a:ext cx="762000" cy="78820"/>
          </a:xfrm>
          <a:prstGeom prst="rect">
            <a:avLst/>
          </a:prstGeom>
          <a:ln w="12700">
            <a:miter lim="400000"/>
          </a:ln>
        </p:spPr>
      </p:pic>
      <p:sp>
        <p:nvSpPr>
          <p:cNvPr id="260" name="Shape 1"/>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61" name="Shape 3"/>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62" name="Shape 5"/>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263" name="Image 4" descr="Image 4"/>
          <p:cNvPicPr>
            <a:picLocks noChangeAspect="1"/>
          </p:cNvPicPr>
          <p:nvPr/>
        </p:nvPicPr>
        <p:blipFill>
          <a:blip r:embed="rId5">
            <a:extLst/>
          </a:blip>
          <a:srcRect l="0" t="573" r="0" b="571"/>
          <a:stretch>
            <a:fillRect/>
          </a:stretch>
        </p:blipFill>
        <p:spPr>
          <a:xfrm>
            <a:off x="0" y="-5"/>
            <a:ext cx="276860" cy="1766578"/>
          </a:xfrm>
          <a:prstGeom prst="rect">
            <a:avLst/>
          </a:prstGeom>
          <a:ln w="12700">
            <a:miter lim="400000"/>
          </a:ln>
        </p:spPr>
      </p:pic>
      <p:pic>
        <p:nvPicPr>
          <p:cNvPr id="264" name="Image 5" descr="Image 5"/>
          <p:cNvPicPr>
            <a:picLocks noChangeAspect="1"/>
          </p:cNvPicPr>
          <p:nvPr/>
        </p:nvPicPr>
        <p:blipFill>
          <a:blip r:embed="rId6">
            <a:extLst/>
          </a:blip>
          <a:srcRect l="48434" t="0" r="0" b="0"/>
          <a:stretch>
            <a:fillRect/>
          </a:stretch>
        </p:blipFill>
        <p:spPr>
          <a:xfrm flipH="1">
            <a:off x="6877349" y="1895144"/>
            <a:ext cx="775675" cy="1503501"/>
          </a:xfrm>
          <a:prstGeom prst="rect">
            <a:avLst/>
          </a:prstGeom>
          <a:ln w="12700">
            <a:miter lim="400000"/>
          </a:ln>
        </p:spPr>
      </p:pic>
      <p:sp>
        <p:nvSpPr>
          <p:cNvPr id="265" name="Text 8"/>
          <p:cNvSpPr txBox="1"/>
          <p:nvPr/>
        </p:nvSpPr>
        <p:spPr>
          <a:xfrm>
            <a:off x="732152" y="3054350"/>
            <a:ext cx="8766800" cy="1320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lnSpc>
                <a:spcPct val="150000"/>
              </a:lnSpc>
              <a:defRPr sz="2200">
                <a:solidFill>
                  <a:srgbClr val="262626"/>
                </a:solidFill>
                <a:latin typeface="MiSans"/>
                <a:ea typeface="MiSans"/>
                <a:cs typeface="MiSans"/>
                <a:sym typeface="MiSans"/>
              </a:defRPr>
            </a:pPr>
            <a:r>
              <a:t>-Increase the epochs limits from 10 to 15</a:t>
            </a:r>
          </a:p>
          <a:p>
            <a:pPr algn="just">
              <a:lnSpc>
                <a:spcPct val="150000"/>
              </a:lnSpc>
              <a:defRPr sz="2200">
                <a:solidFill>
                  <a:srgbClr val="262626"/>
                </a:solidFill>
                <a:latin typeface="MiSans"/>
                <a:ea typeface="MiSans"/>
                <a:cs typeface="MiSans"/>
                <a:sym typeface="MiSans"/>
              </a:defRPr>
            </a:pPr>
          </a:p>
          <a:p>
            <a:pPr algn="just">
              <a:lnSpc>
                <a:spcPct val="150000"/>
              </a:lnSpc>
              <a:defRPr sz="2200">
                <a:solidFill>
                  <a:srgbClr val="262626"/>
                </a:solidFill>
                <a:latin typeface="MiSans"/>
                <a:ea typeface="MiSans"/>
                <a:cs typeface="MiSans"/>
                <a:sym typeface="MiSans"/>
              </a:defRPr>
            </a:pPr>
            <a:r>
              <a:t>-Set up the patient to 5</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67" name="Image 0" descr="Image 0"/>
          <p:cNvPicPr>
            <a:picLocks noChangeAspect="1"/>
          </p:cNvPicPr>
          <p:nvPr/>
        </p:nvPicPr>
        <p:blipFill>
          <a:blip r:embed="rId3">
            <a:alphaModFix amt="95000"/>
            <a:extLst/>
          </a:blip>
          <a:stretch>
            <a:fillRect/>
          </a:stretch>
        </p:blipFill>
        <p:spPr>
          <a:xfrm>
            <a:off x="465772" y="1828163"/>
            <a:ext cx="11273791" cy="4507871"/>
          </a:xfrm>
          <a:prstGeom prst="rect">
            <a:avLst/>
          </a:prstGeom>
          <a:ln w="12700">
            <a:miter lim="400000"/>
          </a:ln>
        </p:spPr>
      </p:pic>
      <p:sp>
        <p:nvSpPr>
          <p:cNvPr id="268" name="Text 0"/>
          <p:cNvSpPr txBox="1"/>
          <p:nvPr/>
        </p:nvSpPr>
        <p:spPr>
          <a:xfrm>
            <a:off x="777875" y="788665"/>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Evaluation indicator setting</a:t>
            </a:r>
          </a:p>
        </p:txBody>
      </p:sp>
      <p:pic>
        <p:nvPicPr>
          <p:cNvPr id="269" name="Image 2" descr="Image 2"/>
          <p:cNvPicPr>
            <a:picLocks noChangeAspect="1"/>
          </p:cNvPicPr>
          <p:nvPr/>
        </p:nvPicPr>
        <p:blipFill>
          <a:blip r:embed="rId4">
            <a:extLst/>
          </a:blip>
          <a:srcRect l="21" t="0" r="15" b="0"/>
          <a:stretch>
            <a:fillRect/>
          </a:stretch>
        </p:blipFill>
        <p:spPr>
          <a:xfrm>
            <a:off x="7578724" y="783590"/>
            <a:ext cx="3408685" cy="3061337"/>
          </a:xfrm>
          <a:prstGeom prst="rect">
            <a:avLst/>
          </a:prstGeom>
          <a:ln w="12700">
            <a:miter lim="400000"/>
          </a:ln>
        </p:spPr>
      </p:pic>
      <p:pic>
        <p:nvPicPr>
          <p:cNvPr id="270" name="Image 3" descr="Image 3"/>
          <p:cNvPicPr>
            <a:picLocks noChangeAspect="1"/>
          </p:cNvPicPr>
          <p:nvPr/>
        </p:nvPicPr>
        <p:blipFill>
          <a:blip r:embed="rId5">
            <a:extLst/>
          </a:blip>
          <a:srcRect l="48434" t="0" r="0" b="0"/>
          <a:stretch>
            <a:fillRect/>
          </a:stretch>
        </p:blipFill>
        <p:spPr>
          <a:xfrm>
            <a:off x="-1" y="4668944"/>
            <a:ext cx="937602" cy="1816732"/>
          </a:xfrm>
          <a:prstGeom prst="rect">
            <a:avLst/>
          </a:prstGeom>
          <a:ln w="12700">
            <a:miter lim="400000"/>
          </a:ln>
        </p:spPr>
      </p:pic>
      <p:sp>
        <p:nvSpPr>
          <p:cNvPr id="271" name="Text 1"/>
          <p:cNvSpPr txBox="1"/>
          <p:nvPr/>
        </p:nvSpPr>
        <p:spPr>
          <a:xfrm>
            <a:off x="821052" y="2213927"/>
            <a:ext cx="499809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Evaluation metric selection</a:t>
            </a:r>
          </a:p>
        </p:txBody>
      </p:sp>
      <p:sp>
        <p:nvSpPr>
          <p:cNvPr id="272" name="Text 2"/>
          <p:cNvSpPr txBox="1"/>
          <p:nvPr/>
        </p:nvSpPr>
        <p:spPr>
          <a:xfrm>
            <a:off x="795652" y="2590162"/>
            <a:ext cx="4998092" cy="151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Accuracy and Macro-F1 are used to comprehensively measure model performance. Since the dataset categories are balanced, the trends of the two are consistent. At the same time, the confusion matrix is ​​recorded to locate easily confused digital pairs.</a:t>
            </a:r>
          </a:p>
        </p:txBody>
      </p:sp>
      <p:sp>
        <p:nvSpPr>
          <p:cNvPr id="273" name="Text 3"/>
          <p:cNvSpPr txBox="1"/>
          <p:nvPr/>
        </p:nvSpPr>
        <p:spPr>
          <a:xfrm>
            <a:off x="6457950" y="4228782"/>
            <a:ext cx="499808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Learning curve monitoring</a:t>
            </a:r>
          </a:p>
        </p:txBody>
      </p:sp>
      <p:sp>
        <p:nvSpPr>
          <p:cNvPr id="274" name="Text 4"/>
          <p:cNvSpPr txBox="1"/>
          <p:nvPr/>
        </p:nvSpPr>
        <p:spPr>
          <a:xfrm>
            <a:off x="6457950" y="4605020"/>
            <a:ext cx="4998088" cy="1187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learning curve simultaneously monitors training/validation loss and indicators, which are used as a basis for early stopping and parameter adjustment, helping to promptly detect problems such as overfitting and optimize the training process.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276" name="Image 0" descr="Image 0"/>
          <p:cNvPicPr>
            <a:picLocks noChangeAspect="1"/>
          </p:cNvPicPr>
          <p:nvPr/>
        </p:nvPicPr>
        <p:blipFill>
          <a:blip r:embed="rId3">
            <a:extLst/>
          </a:blip>
          <a:srcRect l="0" t="28475" r="0" b="28475"/>
          <a:stretch>
            <a:fillRect/>
          </a:stretch>
        </p:blipFill>
        <p:spPr>
          <a:xfrm>
            <a:off x="0" y="2468877"/>
            <a:ext cx="12191366" cy="1835153"/>
          </a:xfrm>
          <a:prstGeom prst="rect">
            <a:avLst/>
          </a:prstGeom>
          <a:ln w="12700">
            <a:miter lim="400000"/>
          </a:ln>
        </p:spPr>
      </p:pic>
      <p:sp>
        <p:nvSpPr>
          <p:cNvPr id="277" name="Text 0"/>
          <p:cNvSpPr txBox="1"/>
          <p:nvPr/>
        </p:nvSpPr>
        <p:spPr>
          <a:xfrm>
            <a:off x="810894" y="3133088"/>
            <a:ext cx="6515101" cy="612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400">
                <a:solidFill>
                  <a:srgbClr val="0D0D0D"/>
                </a:solidFill>
                <a:latin typeface="MiSans"/>
                <a:ea typeface="MiSans"/>
                <a:cs typeface="MiSans"/>
                <a:sym typeface="MiSans"/>
              </a:defRPr>
            </a:lvl1pPr>
          </a:lstStyle>
          <a:p>
            <a:pPr/>
            <a:r>
              <a:t>Results and Insights</a:t>
            </a:r>
          </a:p>
        </p:txBody>
      </p:sp>
      <p:pic>
        <p:nvPicPr>
          <p:cNvPr id="278" name="Image 1" descr="Image 1"/>
          <p:cNvPicPr>
            <a:picLocks noChangeAspect="1"/>
          </p:cNvPicPr>
          <p:nvPr/>
        </p:nvPicPr>
        <p:blipFill>
          <a:blip r:embed="rId4">
            <a:alphaModFix amt="40000"/>
            <a:extLst/>
          </a:blip>
          <a:stretch>
            <a:fillRect/>
          </a:stretch>
        </p:blipFill>
        <p:spPr>
          <a:xfrm flipV="1">
            <a:off x="10896600" y="897888"/>
            <a:ext cx="762000" cy="76207"/>
          </a:xfrm>
          <a:prstGeom prst="rect">
            <a:avLst/>
          </a:prstGeom>
          <a:ln w="12700">
            <a:miter lim="400000"/>
          </a:ln>
        </p:spPr>
      </p:pic>
      <p:pic>
        <p:nvPicPr>
          <p:cNvPr id="279" name="Image 2" descr="Image 2"/>
          <p:cNvPicPr>
            <a:picLocks noChangeAspect="1"/>
          </p:cNvPicPr>
          <p:nvPr/>
        </p:nvPicPr>
        <p:blipFill>
          <a:blip r:embed="rId4">
            <a:alphaModFix amt="40000"/>
            <a:extLst/>
          </a:blip>
          <a:stretch>
            <a:fillRect/>
          </a:stretch>
        </p:blipFill>
        <p:spPr>
          <a:xfrm flipV="1">
            <a:off x="10896600" y="1028700"/>
            <a:ext cx="762000" cy="76200"/>
          </a:xfrm>
          <a:prstGeom prst="rect">
            <a:avLst/>
          </a:prstGeom>
          <a:ln w="12700">
            <a:miter lim="400000"/>
          </a:ln>
        </p:spPr>
      </p:pic>
      <p:sp>
        <p:nvSpPr>
          <p:cNvPr id="280" name="Shape 1"/>
          <p:cNvSpPr/>
          <p:nvPr/>
        </p:nvSpPr>
        <p:spPr>
          <a:xfrm>
            <a:off x="803814" y="5686045"/>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81" name="Shape 3"/>
          <p:cNvSpPr/>
          <p:nvPr/>
        </p:nvSpPr>
        <p:spPr>
          <a:xfrm>
            <a:off x="803814" y="5783019"/>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82" name="Shape 5"/>
          <p:cNvSpPr/>
          <p:nvPr/>
        </p:nvSpPr>
        <p:spPr>
          <a:xfrm>
            <a:off x="803814" y="587999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283" name="Image 3" descr="Image 3"/>
          <p:cNvPicPr>
            <a:picLocks noChangeAspect="1"/>
          </p:cNvPicPr>
          <p:nvPr/>
        </p:nvPicPr>
        <p:blipFill>
          <a:blip r:embed="rId5">
            <a:extLst/>
          </a:blip>
          <a:srcRect l="423" t="0" r="417" b="0"/>
          <a:stretch>
            <a:fillRect/>
          </a:stretch>
        </p:blipFill>
        <p:spPr>
          <a:xfrm flipH="1">
            <a:off x="7372346" y="1739900"/>
            <a:ext cx="3202311" cy="3228975"/>
          </a:xfrm>
          <a:prstGeom prst="rect">
            <a:avLst/>
          </a:prstGeom>
          <a:ln w="12700">
            <a:miter lim="400000"/>
          </a:ln>
        </p:spPr>
      </p:pic>
      <p:sp>
        <p:nvSpPr>
          <p:cNvPr id="284" name="Text 7"/>
          <p:cNvSpPr txBox="1"/>
          <p:nvPr/>
        </p:nvSpPr>
        <p:spPr>
          <a:xfrm>
            <a:off x="8209750" y="2654935"/>
            <a:ext cx="1527509" cy="1386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8500">
                <a:solidFill>
                  <a:srgbClr val="052334"/>
                </a:solidFill>
                <a:latin typeface="MiSans"/>
                <a:ea typeface="MiSans"/>
                <a:cs typeface="MiSans"/>
                <a:sym typeface="MiSans"/>
              </a:defRPr>
            </a:lvl1pPr>
          </a:lstStyle>
          <a:p>
            <a:pPr/>
            <a:r>
              <a:t>05</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86" name="Text 0"/>
          <p:cNvSpPr txBox="1"/>
          <p:nvPr/>
        </p:nvSpPr>
        <p:spPr>
          <a:xfrm>
            <a:off x="1016000" y="955034"/>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Performance leap and curve</a:t>
            </a:r>
          </a:p>
        </p:txBody>
      </p:sp>
      <p:pic>
        <p:nvPicPr>
          <p:cNvPr id="287" name="Image 0" descr="Image 0"/>
          <p:cNvPicPr>
            <a:picLocks noChangeAspect="1"/>
          </p:cNvPicPr>
          <p:nvPr/>
        </p:nvPicPr>
        <p:blipFill>
          <a:blip r:embed="rId3">
            <a:extLst/>
          </a:blip>
          <a:srcRect l="429" t="0" r="424" b="0"/>
          <a:stretch>
            <a:fillRect/>
          </a:stretch>
        </p:blipFill>
        <p:spPr>
          <a:xfrm flipH="1">
            <a:off x="1319527" y="2118995"/>
            <a:ext cx="1247779" cy="1258577"/>
          </a:xfrm>
          <a:prstGeom prst="rect">
            <a:avLst/>
          </a:prstGeom>
          <a:ln w="12700">
            <a:miter lim="400000"/>
          </a:ln>
        </p:spPr>
      </p:pic>
      <p:pic>
        <p:nvPicPr>
          <p:cNvPr id="288" name="Image 1" descr="Image 1"/>
          <p:cNvPicPr>
            <a:picLocks noChangeAspect="1"/>
          </p:cNvPicPr>
          <p:nvPr/>
        </p:nvPicPr>
        <p:blipFill>
          <a:blip r:embed="rId3">
            <a:extLst/>
          </a:blip>
          <a:srcRect l="429" t="0" r="424" b="0"/>
          <a:stretch>
            <a:fillRect/>
          </a:stretch>
        </p:blipFill>
        <p:spPr>
          <a:xfrm flipH="1">
            <a:off x="1319527" y="4100195"/>
            <a:ext cx="1247779" cy="1258577"/>
          </a:xfrm>
          <a:prstGeom prst="rect">
            <a:avLst/>
          </a:prstGeom>
          <a:ln w="12700">
            <a:miter lim="400000"/>
          </a:ln>
        </p:spPr>
      </p:pic>
      <p:pic>
        <p:nvPicPr>
          <p:cNvPr id="289" name="Image 2" descr="Image 2"/>
          <p:cNvPicPr>
            <a:picLocks noChangeAspect="1"/>
          </p:cNvPicPr>
          <p:nvPr/>
        </p:nvPicPr>
        <p:blipFill>
          <a:blip r:embed="rId4">
            <a:alphaModFix amt="40000"/>
            <a:extLst/>
          </a:blip>
          <a:stretch>
            <a:fillRect/>
          </a:stretch>
        </p:blipFill>
        <p:spPr>
          <a:xfrm flipV="1">
            <a:off x="10896600" y="715644"/>
            <a:ext cx="762000" cy="78820"/>
          </a:xfrm>
          <a:prstGeom prst="rect">
            <a:avLst/>
          </a:prstGeom>
          <a:ln w="12700">
            <a:miter lim="400000"/>
          </a:ln>
        </p:spPr>
      </p:pic>
      <p:pic>
        <p:nvPicPr>
          <p:cNvPr id="290" name="Image 3" descr="Image 3"/>
          <p:cNvPicPr>
            <a:picLocks noChangeAspect="1"/>
          </p:cNvPicPr>
          <p:nvPr/>
        </p:nvPicPr>
        <p:blipFill>
          <a:blip r:embed="rId4">
            <a:alphaModFix amt="40000"/>
            <a:extLst/>
          </a:blip>
          <a:stretch>
            <a:fillRect/>
          </a:stretch>
        </p:blipFill>
        <p:spPr>
          <a:xfrm flipV="1">
            <a:off x="10896600" y="850940"/>
            <a:ext cx="762000" cy="78820"/>
          </a:xfrm>
          <a:prstGeom prst="rect">
            <a:avLst/>
          </a:prstGeom>
          <a:ln w="12700">
            <a:miter lim="400000"/>
          </a:ln>
        </p:spPr>
      </p:pic>
      <p:sp>
        <p:nvSpPr>
          <p:cNvPr id="291" name="Shape 1"/>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92" name="Shape 3"/>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93" name="Shape 5"/>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294" name="Text 7"/>
          <p:cNvSpPr txBox="1"/>
          <p:nvPr/>
        </p:nvSpPr>
        <p:spPr>
          <a:xfrm>
            <a:off x="1504313" y="2470785"/>
            <a:ext cx="878207"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000">
                <a:solidFill>
                  <a:srgbClr val="052334"/>
                </a:solidFill>
                <a:latin typeface="MiSans"/>
                <a:ea typeface="MiSans"/>
                <a:cs typeface="MiSans"/>
                <a:sym typeface="MiSans"/>
              </a:defRPr>
            </a:lvl1pPr>
          </a:lstStyle>
          <a:p>
            <a:pPr/>
            <a:r>
              <a:t>01</a:t>
            </a:r>
          </a:p>
        </p:txBody>
      </p:sp>
      <p:sp>
        <p:nvSpPr>
          <p:cNvPr id="295" name="Text 8"/>
          <p:cNvSpPr txBox="1"/>
          <p:nvPr/>
        </p:nvSpPr>
        <p:spPr>
          <a:xfrm>
            <a:off x="2770502" y="2134866"/>
            <a:ext cx="773239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2000">
                <a:solidFill>
                  <a:srgbClr val="052334"/>
                </a:solidFill>
                <a:latin typeface="MiSans"/>
                <a:ea typeface="MiSans"/>
                <a:cs typeface="MiSans"/>
                <a:sym typeface="MiSans"/>
              </a:defRPr>
            </a:lvl1pPr>
          </a:lstStyle>
          <a:p>
            <a:pPr/>
            <a:r>
              <a:t>Performance improvements</a:t>
            </a:r>
          </a:p>
        </p:txBody>
      </p:sp>
      <p:sp>
        <p:nvSpPr>
          <p:cNvPr id="296" name="Text 9"/>
          <p:cNvSpPr txBox="1"/>
          <p:nvPr/>
        </p:nvSpPr>
        <p:spPr>
          <a:xfrm>
            <a:off x="2770502" y="2576195"/>
            <a:ext cx="7731760" cy="863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improved model achieved an accuracy of 76% in the public test set, 7 percentage points higher than the baseline, and the best verified F1 reached 0.7466, significantly improving model performance.</a:t>
            </a:r>
          </a:p>
        </p:txBody>
      </p:sp>
      <p:sp>
        <p:nvSpPr>
          <p:cNvPr id="297" name="Text 10"/>
          <p:cNvSpPr txBox="1"/>
          <p:nvPr/>
        </p:nvSpPr>
        <p:spPr>
          <a:xfrm>
            <a:off x="1504313" y="4451984"/>
            <a:ext cx="878207"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4000">
                <a:solidFill>
                  <a:srgbClr val="052334"/>
                </a:solidFill>
                <a:latin typeface="MiSans"/>
                <a:ea typeface="MiSans"/>
                <a:cs typeface="MiSans"/>
                <a:sym typeface="MiSans"/>
              </a:defRPr>
            </a:lvl1pPr>
          </a:lstStyle>
          <a:p>
            <a:pPr/>
            <a:r>
              <a:t>02</a:t>
            </a:r>
          </a:p>
        </p:txBody>
      </p:sp>
      <p:sp>
        <p:nvSpPr>
          <p:cNvPr id="298" name="Text 11"/>
          <p:cNvSpPr txBox="1"/>
          <p:nvPr/>
        </p:nvSpPr>
        <p:spPr>
          <a:xfrm>
            <a:off x="2770502" y="4144007"/>
            <a:ext cx="773239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2000">
                <a:solidFill>
                  <a:srgbClr val="052334"/>
                </a:solidFill>
                <a:latin typeface="MiSans"/>
                <a:ea typeface="MiSans"/>
                <a:cs typeface="MiSans"/>
                <a:sym typeface="MiSans"/>
              </a:defRPr>
            </a:lvl1pPr>
          </a:lstStyle>
          <a:p>
            <a:pPr/>
            <a:r>
              <a:t>Training curve analysis</a:t>
            </a:r>
          </a:p>
        </p:txBody>
      </p:sp>
      <p:sp>
        <p:nvSpPr>
          <p:cNvPr id="299" name="Text 12"/>
          <p:cNvSpPr txBox="1"/>
          <p:nvPr/>
        </p:nvSpPr>
        <p:spPr>
          <a:xfrm>
            <a:off x="2770502" y="4587875"/>
            <a:ext cx="7731760" cy="863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training loss dropped from 0.96 to 0.54, and the validation loss also dropped and leveled off, with no obvious overfitting. Early stopping was triggered after 13 epochs, proving the effectiveness of the training strategy.</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01"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02"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03"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04"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05"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06"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07" name="learning_curves.png" descr="learning_curves.png"/>
          <p:cNvPicPr>
            <a:picLocks noChangeAspect="1"/>
          </p:cNvPicPr>
          <p:nvPr/>
        </p:nvPicPr>
        <p:blipFill>
          <a:blip r:embed="rId4">
            <a:extLst/>
          </a:blip>
          <a:stretch>
            <a:fillRect/>
          </a:stretch>
        </p:blipFill>
        <p:spPr>
          <a:xfrm>
            <a:off x="-207297" y="1437981"/>
            <a:ext cx="12192001" cy="398203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09"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10"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11"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12"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13"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14"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15" name="图片 19" descr="图片 19"/>
          <p:cNvPicPr>
            <a:picLocks noChangeAspect="1"/>
          </p:cNvPicPr>
          <p:nvPr/>
        </p:nvPicPr>
        <p:blipFill>
          <a:blip r:embed="rId4">
            <a:extLst/>
          </a:blip>
          <a:stretch>
            <a:fillRect/>
          </a:stretch>
        </p:blipFill>
        <p:spPr>
          <a:xfrm>
            <a:off x="1649089" y="-23969"/>
            <a:ext cx="7669457" cy="6881970"/>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17"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18"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19"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20"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21"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22"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23" name="图片 16" descr="图片 16"/>
          <p:cNvPicPr>
            <a:picLocks noChangeAspect="1"/>
          </p:cNvPicPr>
          <p:nvPr/>
        </p:nvPicPr>
        <p:blipFill>
          <a:blip r:embed="rId4">
            <a:extLst/>
          </a:blip>
          <a:stretch>
            <a:fillRect/>
          </a:stretch>
        </p:blipFill>
        <p:spPr>
          <a:xfrm>
            <a:off x="1912732" y="-1148"/>
            <a:ext cx="7644026" cy="685914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25"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26"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27"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28"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29"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30"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31" name="图片 16" descr="图片 16"/>
          <p:cNvPicPr>
            <a:picLocks noChangeAspect="1"/>
          </p:cNvPicPr>
          <p:nvPr/>
        </p:nvPicPr>
        <p:blipFill>
          <a:blip r:embed="rId4">
            <a:extLst/>
          </a:blip>
          <a:stretch>
            <a:fillRect/>
          </a:stretch>
        </p:blipFill>
        <p:spPr>
          <a:xfrm>
            <a:off x="1947902" y="-1148"/>
            <a:ext cx="7644026" cy="685914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33"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34"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35"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36"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37"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38"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39" name="图片 16" descr="图片 16"/>
          <p:cNvPicPr>
            <a:picLocks noChangeAspect="1"/>
          </p:cNvPicPr>
          <p:nvPr/>
        </p:nvPicPr>
        <p:blipFill>
          <a:blip r:embed="rId4">
            <a:extLst/>
          </a:blip>
          <a:stretch>
            <a:fillRect/>
          </a:stretch>
        </p:blipFill>
        <p:spPr>
          <a:xfrm>
            <a:off x="1859976" y="21200"/>
            <a:ext cx="7619125" cy="68368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41"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42"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43"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44"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45"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46"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47" name="图片 16" descr="图片 16"/>
          <p:cNvPicPr>
            <a:picLocks noChangeAspect="1"/>
          </p:cNvPicPr>
          <p:nvPr/>
        </p:nvPicPr>
        <p:blipFill>
          <a:blip r:embed="rId4">
            <a:extLst/>
          </a:blip>
          <a:stretch>
            <a:fillRect/>
          </a:stretch>
        </p:blipFill>
        <p:spPr>
          <a:xfrm>
            <a:off x="2246839" y="21200"/>
            <a:ext cx="7619122" cy="68368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49"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50"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51"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52"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53"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54"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55" name="图片 16" descr="图片 16"/>
          <p:cNvPicPr>
            <a:picLocks noChangeAspect="1"/>
          </p:cNvPicPr>
          <p:nvPr/>
        </p:nvPicPr>
        <p:blipFill>
          <a:blip r:embed="rId4">
            <a:extLst/>
          </a:blip>
          <a:stretch>
            <a:fillRect/>
          </a:stretch>
        </p:blipFill>
        <p:spPr>
          <a:xfrm>
            <a:off x="1912733" y="0"/>
            <a:ext cx="7642746" cy="6858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57"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58"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59"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60"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61"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62"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63" name="图片 16" descr="图片 16"/>
          <p:cNvPicPr>
            <a:picLocks noChangeAspect="1"/>
          </p:cNvPicPr>
          <p:nvPr/>
        </p:nvPicPr>
        <p:blipFill>
          <a:blip r:embed="rId4">
            <a:extLst/>
          </a:blip>
          <a:stretch>
            <a:fillRect/>
          </a:stretch>
        </p:blipFill>
        <p:spPr>
          <a:xfrm>
            <a:off x="1668010" y="-1148"/>
            <a:ext cx="7644032" cy="6859148"/>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65"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66"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67"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68"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69"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70"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71" name="图片 16" descr="图片 16"/>
          <p:cNvPicPr>
            <a:picLocks noChangeAspect="1"/>
          </p:cNvPicPr>
          <p:nvPr/>
        </p:nvPicPr>
        <p:blipFill>
          <a:blip r:embed="rId4">
            <a:extLst/>
          </a:blip>
          <a:stretch>
            <a:fillRect/>
          </a:stretch>
        </p:blipFill>
        <p:spPr>
          <a:xfrm>
            <a:off x="1668010" y="-1148"/>
            <a:ext cx="7595345" cy="6815464"/>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73"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74"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75"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76"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77"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78"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79" name="图片 16" descr="图片 16"/>
          <p:cNvPicPr>
            <a:picLocks noChangeAspect="1"/>
          </p:cNvPicPr>
          <p:nvPr/>
        </p:nvPicPr>
        <p:blipFill>
          <a:blip r:embed="rId4">
            <a:extLst/>
          </a:blip>
          <a:stretch>
            <a:fillRect/>
          </a:stretch>
        </p:blipFill>
        <p:spPr>
          <a:xfrm>
            <a:off x="1675801" y="0"/>
            <a:ext cx="7642746" cy="6858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81"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82"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83"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84"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85"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86"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87" name="图片 16" descr="图片 16"/>
          <p:cNvPicPr>
            <a:picLocks noChangeAspect="1"/>
          </p:cNvPicPr>
          <p:nvPr/>
        </p:nvPicPr>
        <p:blipFill>
          <a:blip r:embed="rId4">
            <a:extLst/>
          </a:blip>
          <a:stretch>
            <a:fillRect/>
          </a:stretch>
        </p:blipFill>
        <p:spPr>
          <a:xfrm>
            <a:off x="2000654" y="-1149"/>
            <a:ext cx="7670883" cy="6883249"/>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389"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390"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391"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392"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93"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394"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395" name="图片 16" descr="图片 16"/>
          <p:cNvPicPr>
            <a:picLocks noChangeAspect="1"/>
          </p:cNvPicPr>
          <p:nvPr/>
        </p:nvPicPr>
        <p:blipFill>
          <a:blip r:embed="rId4">
            <a:extLst/>
          </a:blip>
          <a:stretch>
            <a:fillRect/>
          </a:stretch>
        </p:blipFill>
        <p:spPr>
          <a:xfrm>
            <a:off x="1807223" y="0"/>
            <a:ext cx="7642747" cy="6858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397" name="Image 0" descr="Image 0"/>
          <p:cNvPicPr>
            <a:picLocks noChangeAspect="1"/>
          </p:cNvPicPr>
          <p:nvPr/>
        </p:nvPicPr>
        <p:blipFill>
          <a:blip r:embed="rId3">
            <a:extLst/>
          </a:blip>
          <a:srcRect l="0" t="28475" r="0" b="28475"/>
          <a:stretch>
            <a:fillRect/>
          </a:stretch>
        </p:blipFill>
        <p:spPr>
          <a:xfrm>
            <a:off x="0" y="2468877"/>
            <a:ext cx="12191366" cy="1835153"/>
          </a:xfrm>
          <a:prstGeom prst="rect">
            <a:avLst/>
          </a:prstGeom>
          <a:ln w="12700">
            <a:miter lim="400000"/>
          </a:ln>
        </p:spPr>
      </p:pic>
      <p:sp>
        <p:nvSpPr>
          <p:cNvPr id="398" name="Text 0"/>
          <p:cNvSpPr txBox="1"/>
          <p:nvPr/>
        </p:nvSpPr>
        <p:spPr>
          <a:xfrm>
            <a:off x="810894" y="3133088"/>
            <a:ext cx="6515101" cy="54933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600">
                <a:latin typeface="Calibri"/>
                <a:ea typeface="Calibri"/>
                <a:cs typeface="Calibri"/>
                <a:sym typeface="Calibri"/>
              </a:defRPr>
            </a:lvl1pPr>
          </a:lstStyle>
          <a:p>
            <a:pPr/>
            <a:r>
              <a:t>Error Analysis</a:t>
            </a:r>
          </a:p>
        </p:txBody>
      </p:sp>
      <p:pic>
        <p:nvPicPr>
          <p:cNvPr id="399" name="Image 1" descr="Image 1"/>
          <p:cNvPicPr>
            <a:picLocks noChangeAspect="1"/>
          </p:cNvPicPr>
          <p:nvPr/>
        </p:nvPicPr>
        <p:blipFill>
          <a:blip r:embed="rId4">
            <a:alphaModFix amt="40000"/>
            <a:extLst/>
          </a:blip>
          <a:stretch>
            <a:fillRect/>
          </a:stretch>
        </p:blipFill>
        <p:spPr>
          <a:xfrm flipV="1">
            <a:off x="10896600" y="897888"/>
            <a:ext cx="762000" cy="76207"/>
          </a:xfrm>
          <a:prstGeom prst="rect">
            <a:avLst/>
          </a:prstGeom>
          <a:ln w="12700">
            <a:miter lim="400000"/>
          </a:ln>
        </p:spPr>
      </p:pic>
      <p:pic>
        <p:nvPicPr>
          <p:cNvPr id="400" name="Image 2" descr="Image 2"/>
          <p:cNvPicPr>
            <a:picLocks noChangeAspect="1"/>
          </p:cNvPicPr>
          <p:nvPr/>
        </p:nvPicPr>
        <p:blipFill>
          <a:blip r:embed="rId4">
            <a:alphaModFix amt="40000"/>
            <a:extLst/>
          </a:blip>
          <a:stretch>
            <a:fillRect/>
          </a:stretch>
        </p:blipFill>
        <p:spPr>
          <a:xfrm flipV="1">
            <a:off x="10896600" y="1028700"/>
            <a:ext cx="762000" cy="76200"/>
          </a:xfrm>
          <a:prstGeom prst="rect">
            <a:avLst/>
          </a:prstGeom>
          <a:ln w="12700">
            <a:miter lim="400000"/>
          </a:ln>
        </p:spPr>
      </p:pic>
      <p:sp>
        <p:nvSpPr>
          <p:cNvPr id="401" name="Shape 1"/>
          <p:cNvSpPr/>
          <p:nvPr/>
        </p:nvSpPr>
        <p:spPr>
          <a:xfrm>
            <a:off x="803814" y="5686045"/>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02" name="Shape 3"/>
          <p:cNvSpPr/>
          <p:nvPr/>
        </p:nvSpPr>
        <p:spPr>
          <a:xfrm>
            <a:off x="803814" y="5783019"/>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03" name="Shape 5"/>
          <p:cNvSpPr/>
          <p:nvPr/>
        </p:nvSpPr>
        <p:spPr>
          <a:xfrm>
            <a:off x="803814" y="587999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404" name="Image 3" descr="Image 3"/>
          <p:cNvPicPr>
            <a:picLocks noChangeAspect="1"/>
          </p:cNvPicPr>
          <p:nvPr/>
        </p:nvPicPr>
        <p:blipFill>
          <a:blip r:embed="rId5">
            <a:extLst/>
          </a:blip>
          <a:srcRect l="423" t="0" r="417" b="0"/>
          <a:stretch>
            <a:fillRect/>
          </a:stretch>
        </p:blipFill>
        <p:spPr>
          <a:xfrm flipH="1">
            <a:off x="7372346" y="1739900"/>
            <a:ext cx="3202311" cy="3228975"/>
          </a:xfrm>
          <a:prstGeom prst="rect">
            <a:avLst/>
          </a:prstGeom>
          <a:ln w="12700">
            <a:miter lim="400000"/>
          </a:ln>
        </p:spPr>
      </p:pic>
      <p:sp>
        <p:nvSpPr>
          <p:cNvPr id="405" name="Text 7"/>
          <p:cNvSpPr txBox="1"/>
          <p:nvPr/>
        </p:nvSpPr>
        <p:spPr>
          <a:xfrm>
            <a:off x="8209750" y="2654935"/>
            <a:ext cx="1527509" cy="1386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8500">
                <a:solidFill>
                  <a:srgbClr val="052334"/>
                </a:solidFill>
                <a:latin typeface="MiSans"/>
                <a:ea typeface="MiSans"/>
                <a:cs typeface="MiSans"/>
                <a:sym typeface="MiSans"/>
              </a:defRPr>
            </a:lvl1pPr>
          </a:lstStyle>
          <a:p>
            <a:pPr/>
            <a:r>
              <a:t>06</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07"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408"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409"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410"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11"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12"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413" name="图片 16" descr="图片 16"/>
          <p:cNvPicPr>
            <a:picLocks noChangeAspect="1"/>
          </p:cNvPicPr>
          <p:nvPr/>
        </p:nvPicPr>
        <p:blipFill>
          <a:blip r:embed="rId4">
            <a:extLst/>
          </a:blip>
          <a:stretch>
            <a:fillRect/>
          </a:stretch>
        </p:blipFill>
        <p:spPr>
          <a:xfrm>
            <a:off x="1164329" y="0"/>
            <a:ext cx="9863343" cy="6858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15"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416"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417"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418"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19"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20"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21" name="Text 0"/>
          <p:cNvSpPr txBox="1"/>
          <p:nvPr/>
        </p:nvSpPr>
        <p:spPr>
          <a:xfrm>
            <a:off x="771207" y="889426"/>
            <a:ext cx="10649586"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Analysis</a:t>
            </a:r>
          </a:p>
        </p:txBody>
      </p:sp>
      <p:sp>
        <p:nvSpPr>
          <p:cNvPr id="422" name="Text 8"/>
          <p:cNvSpPr txBox="1"/>
          <p:nvPr/>
        </p:nvSpPr>
        <p:spPr>
          <a:xfrm>
            <a:off x="745026" y="2191766"/>
            <a:ext cx="9824458" cy="266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lnSpc>
                <a:spcPct val="150000"/>
              </a:lnSpc>
              <a:defRPr sz="2500">
                <a:solidFill>
                  <a:srgbClr val="262626"/>
                </a:solidFill>
                <a:latin typeface="MiSans"/>
                <a:ea typeface="MiSans"/>
                <a:cs typeface="MiSans"/>
                <a:sym typeface="MiSans"/>
              </a:defRPr>
            </a:pPr>
            <a:r>
              <a:t>-18 of them can not distinguish directly</a:t>
            </a:r>
          </a:p>
          <a:p>
            <a:pPr algn="just">
              <a:lnSpc>
                <a:spcPct val="150000"/>
              </a:lnSpc>
              <a:defRPr sz="2500">
                <a:solidFill>
                  <a:srgbClr val="262626"/>
                </a:solidFill>
                <a:latin typeface="MiSans"/>
                <a:ea typeface="MiSans"/>
                <a:cs typeface="MiSans"/>
                <a:sym typeface="MiSans"/>
              </a:defRPr>
            </a:pPr>
          </a:p>
          <a:p>
            <a:pPr algn="just">
              <a:lnSpc>
                <a:spcPct val="150000"/>
              </a:lnSpc>
              <a:defRPr sz="2500">
                <a:solidFill>
                  <a:srgbClr val="262626"/>
                </a:solidFill>
                <a:latin typeface="MiSans"/>
                <a:ea typeface="MiSans"/>
                <a:cs typeface="MiSans"/>
                <a:sym typeface="MiSans"/>
              </a:defRPr>
            </a:pPr>
            <a:r>
              <a:t>-2 of them can be solved by script recognizing,(by recognizing its accurate number then compare), but it is not allowed in this assignment</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424" name="Image 0" descr="Image 0"/>
          <p:cNvPicPr>
            <a:picLocks noChangeAspect="1"/>
          </p:cNvPicPr>
          <p:nvPr/>
        </p:nvPicPr>
        <p:blipFill>
          <a:blip r:embed="rId3">
            <a:extLst/>
          </a:blip>
          <a:srcRect l="0" t="28475" r="0" b="28475"/>
          <a:stretch>
            <a:fillRect/>
          </a:stretch>
        </p:blipFill>
        <p:spPr>
          <a:xfrm>
            <a:off x="0" y="2468877"/>
            <a:ext cx="12191366" cy="1835153"/>
          </a:xfrm>
          <a:prstGeom prst="rect">
            <a:avLst/>
          </a:prstGeom>
          <a:ln w="12700">
            <a:miter lim="400000"/>
          </a:ln>
        </p:spPr>
      </p:pic>
      <p:sp>
        <p:nvSpPr>
          <p:cNvPr id="425" name="Text 0"/>
          <p:cNvSpPr txBox="1"/>
          <p:nvPr/>
        </p:nvSpPr>
        <p:spPr>
          <a:xfrm>
            <a:off x="810894" y="3133088"/>
            <a:ext cx="6515101" cy="11836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600">
                <a:solidFill>
                  <a:srgbClr val="052334"/>
                </a:solidFill>
                <a:latin typeface="MiSans"/>
                <a:ea typeface="MiSans"/>
                <a:cs typeface="MiSans"/>
                <a:sym typeface="MiSans"/>
              </a:defRPr>
            </a:lvl1pPr>
          </a:lstStyle>
          <a:p>
            <a:pPr/>
            <a:r>
              <a:t>Model efficiency and resource usage</a:t>
            </a:r>
          </a:p>
        </p:txBody>
      </p:sp>
      <p:pic>
        <p:nvPicPr>
          <p:cNvPr id="426" name="Image 1" descr="Image 1"/>
          <p:cNvPicPr>
            <a:picLocks noChangeAspect="1"/>
          </p:cNvPicPr>
          <p:nvPr/>
        </p:nvPicPr>
        <p:blipFill>
          <a:blip r:embed="rId4">
            <a:alphaModFix amt="40000"/>
            <a:extLst/>
          </a:blip>
          <a:stretch>
            <a:fillRect/>
          </a:stretch>
        </p:blipFill>
        <p:spPr>
          <a:xfrm flipV="1">
            <a:off x="10896600" y="897888"/>
            <a:ext cx="762000" cy="76207"/>
          </a:xfrm>
          <a:prstGeom prst="rect">
            <a:avLst/>
          </a:prstGeom>
          <a:ln w="12700">
            <a:miter lim="400000"/>
          </a:ln>
        </p:spPr>
      </p:pic>
      <p:pic>
        <p:nvPicPr>
          <p:cNvPr id="427" name="Image 2" descr="Image 2"/>
          <p:cNvPicPr>
            <a:picLocks noChangeAspect="1"/>
          </p:cNvPicPr>
          <p:nvPr/>
        </p:nvPicPr>
        <p:blipFill>
          <a:blip r:embed="rId4">
            <a:alphaModFix amt="40000"/>
            <a:extLst/>
          </a:blip>
          <a:stretch>
            <a:fillRect/>
          </a:stretch>
        </p:blipFill>
        <p:spPr>
          <a:xfrm flipV="1">
            <a:off x="10896600" y="1028700"/>
            <a:ext cx="762000" cy="76200"/>
          </a:xfrm>
          <a:prstGeom prst="rect">
            <a:avLst/>
          </a:prstGeom>
          <a:ln w="12700">
            <a:miter lim="400000"/>
          </a:ln>
        </p:spPr>
      </p:pic>
      <p:sp>
        <p:nvSpPr>
          <p:cNvPr id="428" name="Shape 1"/>
          <p:cNvSpPr/>
          <p:nvPr/>
        </p:nvSpPr>
        <p:spPr>
          <a:xfrm>
            <a:off x="803814" y="5686045"/>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29" name="Shape 3"/>
          <p:cNvSpPr/>
          <p:nvPr/>
        </p:nvSpPr>
        <p:spPr>
          <a:xfrm>
            <a:off x="803814" y="5783019"/>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30" name="Shape 5"/>
          <p:cNvSpPr/>
          <p:nvPr/>
        </p:nvSpPr>
        <p:spPr>
          <a:xfrm>
            <a:off x="803814" y="587999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431" name="Image 3" descr="Image 3"/>
          <p:cNvPicPr>
            <a:picLocks noChangeAspect="1"/>
          </p:cNvPicPr>
          <p:nvPr/>
        </p:nvPicPr>
        <p:blipFill>
          <a:blip r:embed="rId5">
            <a:extLst/>
          </a:blip>
          <a:srcRect l="423" t="0" r="417" b="0"/>
          <a:stretch>
            <a:fillRect/>
          </a:stretch>
        </p:blipFill>
        <p:spPr>
          <a:xfrm flipH="1">
            <a:off x="7372346" y="1739900"/>
            <a:ext cx="3202311" cy="3228975"/>
          </a:xfrm>
          <a:prstGeom prst="rect">
            <a:avLst/>
          </a:prstGeom>
          <a:ln w="12700">
            <a:miter lim="400000"/>
          </a:ln>
        </p:spPr>
      </p:pic>
      <p:sp>
        <p:nvSpPr>
          <p:cNvPr id="432" name="Text 7"/>
          <p:cNvSpPr txBox="1"/>
          <p:nvPr/>
        </p:nvSpPr>
        <p:spPr>
          <a:xfrm>
            <a:off x="8209750" y="2654935"/>
            <a:ext cx="1527509" cy="1386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8500">
                <a:solidFill>
                  <a:srgbClr val="052334"/>
                </a:solidFill>
                <a:latin typeface="MiSans"/>
                <a:ea typeface="MiSans"/>
                <a:cs typeface="MiSans"/>
                <a:sym typeface="MiSans"/>
              </a:defRPr>
            </a:lvl1pPr>
          </a:lstStyle>
          <a:p>
            <a:pPr/>
            <a:r>
              <a:t>07</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434" name="Image 0" descr="Image 0"/>
          <p:cNvPicPr>
            <a:picLocks noChangeAspect="1"/>
          </p:cNvPicPr>
          <p:nvPr/>
        </p:nvPicPr>
        <p:blipFill>
          <a:blip r:embed="rId3">
            <a:alphaModFix amt="50000"/>
            <a:extLst/>
          </a:blip>
          <a:srcRect l="0" t="11400" r="0" b="11399"/>
          <a:stretch>
            <a:fillRect/>
          </a:stretch>
        </p:blipFill>
        <p:spPr>
          <a:xfrm>
            <a:off x="0" y="2220595"/>
            <a:ext cx="12192635" cy="3291207"/>
          </a:xfrm>
          <a:prstGeom prst="rect">
            <a:avLst/>
          </a:prstGeom>
          <a:ln w="12700">
            <a:miter lim="400000"/>
          </a:ln>
        </p:spPr>
      </p:pic>
      <p:sp>
        <p:nvSpPr>
          <p:cNvPr id="435" name="Text 0"/>
          <p:cNvSpPr txBox="1"/>
          <p:nvPr/>
        </p:nvSpPr>
        <p:spPr>
          <a:xfrm>
            <a:off x="732155" y="1043919"/>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Resource consumption and efficiency</a:t>
            </a:r>
          </a:p>
        </p:txBody>
      </p:sp>
      <p:pic>
        <p:nvPicPr>
          <p:cNvPr id="436" name="Image 1" descr="Image 1"/>
          <p:cNvPicPr>
            <a:picLocks noChangeAspect="1"/>
          </p:cNvPicPr>
          <p:nvPr/>
        </p:nvPicPr>
        <p:blipFill>
          <a:blip r:embed="rId4">
            <a:alphaModFix amt="40000"/>
            <a:extLst/>
          </a:blip>
          <a:stretch>
            <a:fillRect/>
          </a:stretch>
        </p:blipFill>
        <p:spPr>
          <a:xfrm flipV="1">
            <a:off x="10896600" y="715644"/>
            <a:ext cx="762000" cy="78820"/>
          </a:xfrm>
          <a:prstGeom prst="rect">
            <a:avLst/>
          </a:prstGeom>
          <a:ln w="12700">
            <a:miter lim="400000"/>
          </a:ln>
        </p:spPr>
      </p:pic>
      <p:pic>
        <p:nvPicPr>
          <p:cNvPr id="437" name="Image 2" descr="Image 2"/>
          <p:cNvPicPr>
            <a:picLocks noChangeAspect="1"/>
          </p:cNvPicPr>
          <p:nvPr/>
        </p:nvPicPr>
        <p:blipFill>
          <a:blip r:embed="rId4">
            <a:alphaModFix amt="40000"/>
            <a:extLst/>
          </a:blip>
          <a:stretch>
            <a:fillRect/>
          </a:stretch>
        </p:blipFill>
        <p:spPr>
          <a:xfrm flipV="1">
            <a:off x="10896600" y="850940"/>
            <a:ext cx="762000" cy="78820"/>
          </a:xfrm>
          <a:prstGeom prst="rect">
            <a:avLst/>
          </a:prstGeom>
          <a:ln w="12700">
            <a:miter lim="400000"/>
          </a:ln>
        </p:spPr>
      </p:pic>
      <p:sp>
        <p:nvSpPr>
          <p:cNvPr id="438" name="Shape 1"/>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39" name="Shape 3"/>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40" name="Shape 5"/>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441" name="Image 4" descr="Image 4"/>
          <p:cNvPicPr>
            <a:picLocks noChangeAspect="1"/>
          </p:cNvPicPr>
          <p:nvPr/>
        </p:nvPicPr>
        <p:blipFill>
          <a:blip r:embed="rId5">
            <a:extLst/>
          </a:blip>
          <a:srcRect l="0" t="573" r="0" b="571"/>
          <a:stretch>
            <a:fillRect/>
          </a:stretch>
        </p:blipFill>
        <p:spPr>
          <a:xfrm>
            <a:off x="0" y="-5"/>
            <a:ext cx="276860" cy="1766578"/>
          </a:xfrm>
          <a:prstGeom prst="rect">
            <a:avLst/>
          </a:prstGeom>
          <a:ln w="12700">
            <a:miter lim="400000"/>
          </a:ln>
        </p:spPr>
      </p:pic>
      <p:pic>
        <p:nvPicPr>
          <p:cNvPr id="442" name="Image 5" descr="Image 5"/>
          <p:cNvPicPr>
            <a:picLocks noChangeAspect="1"/>
          </p:cNvPicPr>
          <p:nvPr/>
        </p:nvPicPr>
        <p:blipFill>
          <a:blip r:embed="rId6">
            <a:extLst/>
          </a:blip>
          <a:srcRect l="48434" t="0" r="0" b="0"/>
          <a:stretch>
            <a:fillRect/>
          </a:stretch>
        </p:blipFill>
        <p:spPr>
          <a:xfrm flipH="1">
            <a:off x="6877349" y="1895144"/>
            <a:ext cx="775675" cy="1503501"/>
          </a:xfrm>
          <a:prstGeom prst="rect">
            <a:avLst/>
          </a:prstGeom>
          <a:ln w="12700">
            <a:miter lim="400000"/>
          </a:ln>
        </p:spPr>
      </p:pic>
      <p:sp>
        <p:nvSpPr>
          <p:cNvPr id="443" name="Text 7"/>
          <p:cNvSpPr txBox="1"/>
          <p:nvPr/>
        </p:nvSpPr>
        <p:spPr>
          <a:xfrm>
            <a:off x="732152" y="2709227"/>
            <a:ext cx="426657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Model parameters and training time</a:t>
            </a:r>
          </a:p>
        </p:txBody>
      </p:sp>
      <p:sp>
        <p:nvSpPr>
          <p:cNvPr id="444" name="Text 8"/>
          <p:cNvSpPr txBox="1"/>
          <p:nvPr/>
        </p:nvSpPr>
        <p:spPr>
          <a:xfrm>
            <a:off x="732152" y="3054350"/>
            <a:ext cx="3596646" cy="18351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model has only 504K parameters and takes 7 minutes and 40 seconds to train on a 16 vCPU+16 GB cloud instance. It can be completed without a GPU, and the single forward inference time is less than 5 ms, making it suitable for edge deployment.</a:t>
            </a:r>
          </a:p>
        </p:txBody>
      </p:sp>
      <p:sp>
        <p:nvSpPr>
          <p:cNvPr id="445" name="Text 9"/>
          <p:cNvSpPr txBox="1"/>
          <p:nvPr/>
        </p:nvSpPr>
        <p:spPr>
          <a:xfrm>
            <a:off x="7999730" y="2688270"/>
            <a:ext cx="386016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Advantages of mixed precision</a:t>
            </a:r>
          </a:p>
        </p:txBody>
      </p:sp>
      <p:sp>
        <p:nvSpPr>
          <p:cNvPr id="446" name="Text 10"/>
          <p:cNvSpPr txBox="1"/>
          <p:nvPr/>
        </p:nvSpPr>
        <p:spPr>
          <a:xfrm>
            <a:off x="7999730" y="3049270"/>
            <a:ext cx="3596643" cy="151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Mixed precision significantly saves memory, verifies that small models can also achieve high results, and improves the applicability of models in resource-constrained environments.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448" name="Image 0" descr="Image 0"/>
          <p:cNvPicPr>
            <a:picLocks noChangeAspect="1"/>
          </p:cNvPicPr>
          <p:nvPr/>
        </p:nvPicPr>
        <p:blipFill>
          <a:blip r:embed="rId3">
            <a:extLst/>
          </a:blip>
          <a:srcRect l="0" t="28475" r="0" b="28475"/>
          <a:stretch>
            <a:fillRect/>
          </a:stretch>
        </p:blipFill>
        <p:spPr>
          <a:xfrm>
            <a:off x="0" y="2468877"/>
            <a:ext cx="12191366" cy="1835153"/>
          </a:xfrm>
          <a:prstGeom prst="rect">
            <a:avLst/>
          </a:prstGeom>
          <a:ln w="12700">
            <a:miter lim="400000"/>
          </a:ln>
        </p:spPr>
      </p:pic>
      <p:sp>
        <p:nvSpPr>
          <p:cNvPr id="449" name="Text 0"/>
          <p:cNvSpPr txBox="1"/>
          <p:nvPr/>
        </p:nvSpPr>
        <p:spPr>
          <a:xfrm>
            <a:off x="810894" y="3133088"/>
            <a:ext cx="6515101" cy="54933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600">
                <a:latin typeface="Calibri"/>
                <a:ea typeface="Calibri"/>
                <a:cs typeface="Calibri"/>
                <a:sym typeface="Calibri"/>
              </a:defRPr>
            </a:lvl1pPr>
          </a:lstStyle>
          <a:p>
            <a:pPr/>
            <a:r>
              <a:t>AI Tool Instructions</a:t>
            </a:r>
          </a:p>
        </p:txBody>
      </p:sp>
      <p:pic>
        <p:nvPicPr>
          <p:cNvPr id="450" name="Image 1" descr="Image 1"/>
          <p:cNvPicPr>
            <a:picLocks noChangeAspect="1"/>
          </p:cNvPicPr>
          <p:nvPr/>
        </p:nvPicPr>
        <p:blipFill>
          <a:blip r:embed="rId4">
            <a:alphaModFix amt="40000"/>
            <a:extLst/>
          </a:blip>
          <a:stretch>
            <a:fillRect/>
          </a:stretch>
        </p:blipFill>
        <p:spPr>
          <a:xfrm flipV="1">
            <a:off x="10896600" y="897888"/>
            <a:ext cx="762000" cy="76207"/>
          </a:xfrm>
          <a:prstGeom prst="rect">
            <a:avLst/>
          </a:prstGeom>
          <a:ln w="12700">
            <a:miter lim="400000"/>
          </a:ln>
        </p:spPr>
      </p:pic>
      <p:pic>
        <p:nvPicPr>
          <p:cNvPr id="451" name="Image 2" descr="Image 2"/>
          <p:cNvPicPr>
            <a:picLocks noChangeAspect="1"/>
          </p:cNvPicPr>
          <p:nvPr/>
        </p:nvPicPr>
        <p:blipFill>
          <a:blip r:embed="rId4">
            <a:alphaModFix amt="40000"/>
            <a:extLst/>
          </a:blip>
          <a:stretch>
            <a:fillRect/>
          </a:stretch>
        </p:blipFill>
        <p:spPr>
          <a:xfrm flipV="1">
            <a:off x="10896600" y="1028700"/>
            <a:ext cx="762000" cy="76200"/>
          </a:xfrm>
          <a:prstGeom prst="rect">
            <a:avLst/>
          </a:prstGeom>
          <a:ln w="12700">
            <a:miter lim="400000"/>
          </a:ln>
        </p:spPr>
      </p:pic>
      <p:sp>
        <p:nvSpPr>
          <p:cNvPr id="452" name="Shape 1"/>
          <p:cNvSpPr/>
          <p:nvPr/>
        </p:nvSpPr>
        <p:spPr>
          <a:xfrm>
            <a:off x="803814" y="5686045"/>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53" name="Shape 3"/>
          <p:cNvSpPr/>
          <p:nvPr/>
        </p:nvSpPr>
        <p:spPr>
          <a:xfrm>
            <a:off x="803814" y="5783019"/>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54" name="Shape 5"/>
          <p:cNvSpPr/>
          <p:nvPr/>
        </p:nvSpPr>
        <p:spPr>
          <a:xfrm>
            <a:off x="803814" y="587999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455" name="Image 3" descr="Image 3"/>
          <p:cNvPicPr>
            <a:picLocks noChangeAspect="1"/>
          </p:cNvPicPr>
          <p:nvPr/>
        </p:nvPicPr>
        <p:blipFill>
          <a:blip r:embed="rId5">
            <a:extLst/>
          </a:blip>
          <a:srcRect l="423" t="0" r="417" b="0"/>
          <a:stretch>
            <a:fillRect/>
          </a:stretch>
        </p:blipFill>
        <p:spPr>
          <a:xfrm flipH="1">
            <a:off x="7372346" y="1739900"/>
            <a:ext cx="3202311" cy="3228975"/>
          </a:xfrm>
          <a:prstGeom prst="rect">
            <a:avLst/>
          </a:prstGeom>
          <a:ln w="12700">
            <a:miter lim="400000"/>
          </a:ln>
        </p:spPr>
      </p:pic>
      <p:sp>
        <p:nvSpPr>
          <p:cNvPr id="456" name="Text 7"/>
          <p:cNvSpPr txBox="1"/>
          <p:nvPr/>
        </p:nvSpPr>
        <p:spPr>
          <a:xfrm>
            <a:off x="8209750" y="2654935"/>
            <a:ext cx="1527509" cy="1386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8500">
                <a:solidFill>
                  <a:srgbClr val="052334"/>
                </a:solidFill>
                <a:latin typeface="MiSans"/>
                <a:ea typeface="MiSans"/>
                <a:cs typeface="MiSans"/>
                <a:sym typeface="MiSans"/>
              </a:defRPr>
            </a:lvl1pPr>
          </a:lstStyle>
          <a:p>
            <a:pPr/>
            <a:r>
              <a:t>08</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458" name="Image 0" descr="Image 0"/>
          <p:cNvPicPr>
            <a:picLocks noChangeAspect="1"/>
          </p:cNvPicPr>
          <p:nvPr/>
        </p:nvPicPr>
        <p:blipFill>
          <a:blip r:embed="rId3">
            <a:alphaModFix amt="50000"/>
            <a:extLst/>
          </a:blip>
          <a:srcRect l="0" t="11400" r="0" b="11399"/>
          <a:stretch>
            <a:fillRect/>
          </a:stretch>
        </p:blipFill>
        <p:spPr>
          <a:xfrm>
            <a:off x="-636" y="2220595"/>
            <a:ext cx="12192636" cy="3291207"/>
          </a:xfrm>
          <a:prstGeom prst="rect">
            <a:avLst/>
          </a:prstGeom>
          <a:ln w="12700">
            <a:miter lim="400000"/>
          </a:ln>
        </p:spPr>
      </p:pic>
      <p:sp>
        <p:nvSpPr>
          <p:cNvPr id="459" name="Text 0"/>
          <p:cNvSpPr txBox="1"/>
          <p:nvPr/>
        </p:nvSpPr>
        <p:spPr>
          <a:xfrm>
            <a:off x="732155" y="1043919"/>
            <a:ext cx="10649585"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Tool used: Deepseek</a:t>
            </a:r>
          </a:p>
        </p:txBody>
      </p:sp>
      <p:pic>
        <p:nvPicPr>
          <p:cNvPr id="460" name="Image 1" descr="Image 1"/>
          <p:cNvPicPr>
            <a:picLocks noChangeAspect="1"/>
          </p:cNvPicPr>
          <p:nvPr/>
        </p:nvPicPr>
        <p:blipFill>
          <a:blip r:embed="rId4">
            <a:alphaModFix amt="40000"/>
            <a:extLst/>
          </a:blip>
          <a:stretch>
            <a:fillRect/>
          </a:stretch>
        </p:blipFill>
        <p:spPr>
          <a:xfrm flipV="1">
            <a:off x="10896600" y="715644"/>
            <a:ext cx="762000" cy="78820"/>
          </a:xfrm>
          <a:prstGeom prst="rect">
            <a:avLst/>
          </a:prstGeom>
          <a:ln w="12700">
            <a:miter lim="400000"/>
          </a:ln>
        </p:spPr>
      </p:pic>
      <p:pic>
        <p:nvPicPr>
          <p:cNvPr id="461" name="Image 2" descr="Image 2"/>
          <p:cNvPicPr>
            <a:picLocks noChangeAspect="1"/>
          </p:cNvPicPr>
          <p:nvPr/>
        </p:nvPicPr>
        <p:blipFill>
          <a:blip r:embed="rId4">
            <a:alphaModFix amt="40000"/>
            <a:extLst/>
          </a:blip>
          <a:stretch>
            <a:fillRect/>
          </a:stretch>
        </p:blipFill>
        <p:spPr>
          <a:xfrm flipV="1">
            <a:off x="10896600" y="850940"/>
            <a:ext cx="762000" cy="78820"/>
          </a:xfrm>
          <a:prstGeom prst="rect">
            <a:avLst/>
          </a:prstGeom>
          <a:ln w="12700">
            <a:miter lim="400000"/>
          </a:ln>
        </p:spPr>
      </p:pic>
      <p:sp>
        <p:nvSpPr>
          <p:cNvPr id="462" name="Shape 1"/>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63" name="Shape 3"/>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64" name="Shape 5"/>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465" name="Image 4" descr="Image 4"/>
          <p:cNvPicPr>
            <a:picLocks noChangeAspect="1"/>
          </p:cNvPicPr>
          <p:nvPr/>
        </p:nvPicPr>
        <p:blipFill>
          <a:blip r:embed="rId5">
            <a:extLst/>
          </a:blip>
          <a:srcRect l="0" t="573" r="0" b="571"/>
          <a:stretch>
            <a:fillRect/>
          </a:stretch>
        </p:blipFill>
        <p:spPr>
          <a:xfrm>
            <a:off x="0" y="-5"/>
            <a:ext cx="276860" cy="1766578"/>
          </a:xfrm>
          <a:prstGeom prst="rect">
            <a:avLst/>
          </a:prstGeom>
          <a:ln w="12700">
            <a:miter lim="400000"/>
          </a:ln>
        </p:spPr>
      </p:pic>
      <p:pic>
        <p:nvPicPr>
          <p:cNvPr id="466" name="Image 5" descr="Image 5"/>
          <p:cNvPicPr>
            <a:picLocks noChangeAspect="1"/>
          </p:cNvPicPr>
          <p:nvPr/>
        </p:nvPicPr>
        <p:blipFill>
          <a:blip r:embed="rId6">
            <a:extLst/>
          </a:blip>
          <a:srcRect l="48434" t="0" r="0" b="0"/>
          <a:stretch>
            <a:fillRect/>
          </a:stretch>
        </p:blipFill>
        <p:spPr>
          <a:xfrm flipH="1">
            <a:off x="6877349" y="1895144"/>
            <a:ext cx="775675" cy="1503501"/>
          </a:xfrm>
          <a:prstGeom prst="rect">
            <a:avLst/>
          </a:prstGeom>
          <a:ln w="12700">
            <a:miter lim="400000"/>
          </a:ln>
        </p:spPr>
      </p:pic>
      <p:sp>
        <p:nvSpPr>
          <p:cNvPr id="467" name="Text 7"/>
          <p:cNvSpPr txBox="1"/>
          <p:nvPr/>
        </p:nvSpPr>
        <p:spPr>
          <a:xfrm>
            <a:off x="732152" y="2385061"/>
            <a:ext cx="426657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Usage scenarios:</a:t>
            </a:r>
          </a:p>
        </p:txBody>
      </p:sp>
      <p:sp>
        <p:nvSpPr>
          <p:cNvPr id="468" name="Text 8"/>
          <p:cNvSpPr txBox="1"/>
          <p:nvPr/>
        </p:nvSpPr>
        <p:spPr>
          <a:xfrm>
            <a:off x="732152" y="2668906"/>
            <a:ext cx="3596646" cy="282701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lnSpc>
                <a:spcPct val="150000"/>
              </a:lnSpc>
              <a:defRPr sz="1400">
                <a:solidFill>
                  <a:srgbClr val="262626"/>
                </a:solidFill>
                <a:latin typeface="MiSans"/>
                <a:ea typeface="MiSans"/>
                <a:cs typeface="MiSans"/>
                <a:sym typeface="MiSans"/>
              </a:defRPr>
            </a:pPr>
            <a:r>
              <a:t>◦ Code structure optimization suggestions</a:t>
            </a:r>
          </a:p>
          <a:p>
            <a:pPr algn="just">
              <a:lnSpc>
                <a:spcPct val="150000"/>
              </a:lnSpc>
              <a:defRPr sz="1400">
                <a:solidFill>
                  <a:srgbClr val="262626"/>
                </a:solidFill>
                <a:latin typeface="MiSans"/>
                <a:ea typeface="MiSans"/>
                <a:cs typeface="MiSans"/>
                <a:sym typeface="MiSans"/>
              </a:defRPr>
            </a:pPr>
          </a:p>
          <a:p>
            <a:pPr algn="just">
              <a:lnSpc>
                <a:spcPct val="150000"/>
              </a:lnSpc>
              <a:defRPr sz="1400">
                <a:solidFill>
                  <a:srgbClr val="262626"/>
                </a:solidFill>
                <a:latin typeface="MiSans"/>
                <a:ea typeface="MiSans"/>
                <a:cs typeface="MiSans"/>
                <a:sym typeface="MiSans"/>
              </a:defRPr>
            </a:pPr>
            <a:r>
              <a:t>◦ Model architecture design reference</a:t>
            </a:r>
          </a:p>
          <a:p>
            <a:pPr algn="just">
              <a:lnSpc>
                <a:spcPct val="150000"/>
              </a:lnSpc>
              <a:defRPr sz="1400">
                <a:solidFill>
                  <a:srgbClr val="262626"/>
                </a:solidFill>
                <a:latin typeface="MiSans"/>
                <a:ea typeface="MiSans"/>
                <a:cs typeface="MiSans"/>
                <a:sym typeface="MiSans"/>
              </a:defRPr>
            </a:pPr>
          </a:p>
          <a:p>
            <a:pPr algn="just">
              <a:lnSpc>
                <a:spcPct val="150000"/>
              </a:lnSpc>
              <a:defRPr sz="1400">
                <a:solidFill>
                  <a:srgbClr val="262626"/>
                </a:solidFill>
                <a:latin typeface="MiSans"/>
                <a:ea typeface="MiSans"/>
                <a:cs typeface="MiSans"/>
                <a:sym typeface="MiSans"/>
              </a:defRPr>
            </a:pPr>
            <a:r>
              <a:t>◦ Error debugging and documentation assistance</a:t>
            </a:r>
          </a:p>
          <a:p>
            <a:pPr algn="just">
              <a:lnSpc>
                <a:spcPct val="150000"/>
              </a:lnSpc>
              <a:defRPr sz="1400">
                <a:solidFill>
                  <a:srgbClr val="262626"/>
                </a:solidFill>
                <a:latin typeface="MiSans"/>
                <a:ea typeface="MiSans"/>
                <a:cs typeface="MiSans"/>
                <a:sym typeface="MiSans"/>
              </a:defRPr>
            </a:pPr>
          </a:p>
          <a:p>
            <a:pPr algn="just">
              <a:lnSpc>
                <a:spcPct val="150000"/>
              </a:lnSpc>
              <a:defRPr sz="1400">
                <a:solidFill>
                  <a:srgbClr val="262626"/>
                </a:solidFill>
                <a:latin typeface="MiSans"/>
                <a:ea typeface="MiSans"/>
                <a:cs typeface="MiSans"/>
                <a:sym typeface="MiSans"/>
              </a:defRPr>
            </a:pPr>
            <a:r>
              <a:t>◦ Review and learning of some important concepts</a:t>
            </a:r>
          </a:p>
        </p:txBody>
      </p:sp>
      <p:sp>
        <p:nvSpPr>
          <p:cNvPr id="469" name="Text 9"/>
          <p:cNvSpPr txBox="1"/>
          <p:nvPr/>
        </p:nvSpPr>
        <p:spPr>
          <a:xfrm>
            <a:off x="7999730" y="2688270"/>
            <a:ext cx="3860168"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Principles of use:</a:t>
            </a:r>
          </a:p>
        </p:txBody>
      </p:sp>
      <p:sp>
        <p:nvSpPr>
          <p:cNvPr id="470" name="Text 10"/>
          <p:cNvSpPr txBox="1"/>
          <p:nvPr/>
        </p:nvSpPr>
        <p:spPr>
          <a:xfrm>
            <a:off x="7999730" y="3049270"/>
            <a:ext cx="3596643" cy="6545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a:latin typeface="Calibri"/>
                <a:ea typeface="Calibri"/>
                <a:cs typeface="Calibri"/>
                <a:sym typeface="Calibri"/>
              </a:defRPr>
            </a:lvl1pPr>
          </a:lstStyle>
          <a:p>
            <a:pPr/>
            <a:r>
              <a:t>All core logic and codes are original, and AI tools are only used as auxiliary</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472" name="Image 0" descr="Image 0"/>
          <p:cNvPicPr>
            <a:picLocks noChangeAspect="1"/>
          </p:cNvPicPr>
          <p:nvPr/>
        </p:nvPicPr>
        <p:blipFill>
          <a:blip r:embed="rId3">
            <a:extLst/>
          </a:blip>
          <a:srcRect l="0" t="28475" r="0" b="28475"/>
          <a:stretch>
            <a:fillRect/>
          </a:stretch>
        </p:blipFill>
        <p:spPr>
          <a:xfrm>
            <a:off x="0" y="2468877"/>
            <a:ext cx="12191366" cy="1835153"/>
          </a:xfrm>
          <a:prstGeom prst="rect">
            <a:avLst/>
          </a:prstGeom>
          <a:ln w="12700">
            <a:miter lim="400000"/>
          </a:ln>
        </p:spPr>
      </p:pic>
      <p:sp>
        <p:nvSpPr>
          <p:cNvPr id="473" name="Text 0"/>
          <p:cNvSpPr txBox="1"/>
          <p:nvPr/>
        </p:nvSpPr>
        <p:spPr>
          <a:xfrm>
            <a:off x="810894" y="3133088"/>
            <a:ext cx="6515101" cy="54933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600">
                <a:latin typeface="Calibri"/>
                <a:ea typeface="Calibri"/>
                <a:cs typeface="Calibri"/>
                <a:sym typeface="Calibri"/>
              </a:defRPr>
            </a:lvl1pPr>
          </a:lstStyle>
          <a:p>
            <a:pPr/>
            <a:r>
              <a:t>Summary and Future Work</a:t>
            </a:r>
          </a:p>
        </p:txBody>
      </p:sp>
      <p:pic>
        <p:nvPicPr>
          <p:cNvPr id="474" name="Image 1" descr="Image 1"/>
          <p:cNvPicPr>
            <a:picLocks noChangeAspect="1"/>
          </p:cNvPicPr>
          <p:nvPr/>
        </p:nvPicPr>
        <p:blipFill>
          <a:blip r:embed="rId4">
            <a:alphaModFix amt="40000"/>
            <a:extLst/>
          </a:blip>
          <a:stretch>
            <a:fillRect/>
          </a:stretch>
        </p:blipFill>
        <p:spPr>
          <a:xfrm flipV="1">
            <a:off x="10896600" y="897888"/>
            <a:ext cx="762000" cy="76207"/>
          </a:xfrm>
          <a:prstGeom prst="rect">
            <a:avLst/>
          </a:prstGeom>
          <a:ln w="12700">
            <a:miter lim="400000"/>
          </a:ln>
        </p:spPr>
      </p:pic>
      <p:pic>
        <p:nvPicPr>
          <p:cNvPr id="475" name="Image 2" descr="Image 2"/>
          <p:cNvPicPr>
            <a:picLocks noChangeAspect="1"/>
          </p:cNvPicPr>
          <p:nvPr/>
        </p:nvPicPr>
        <p:blipFill>
          <a:blip r:embed="rId4">
            <a:alphaModFix amt="40000"/>
            <a:extLst/>
          </a:blip>
          <a:stretch>
            <a:fillRect/>
          </a:stretch>
        </p:blipFill>
        <p:spPr>
          <a:xfrm flipV="1">
            <a:off x="10896600" y="1028700"/>
            <a:ext cx="762000" cy="76200"/>
          </a:xfrm>
          <a:prstGeom prst="rect">
            <a:avLst/>
          </a:prstGeom>
          <a:ln w="12700">
            <a:miter lim="400000"/>
          </a:ln>
        </p:spPr>
      </p:pic>
      <p:sp>
        <p:nvSpPr>
          <p:cNvPr id="476" name="Shape 1"/>
          <p:cNvSpPr/>
          <p:nvPr/>
        </p:nvSpPr>
        <p:spPr>
          <a:xfrm>
            <a:off x="803814" y="5686045"/>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77" name="Shape 3"/>
          <p:cNvSpPr/>
          <p:nvPr/>
        </p:nvSpPr>
        <p:spPr>
          <a:xfrm>
            <a:off x="803814" y="5783019"/>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478" name="Shape 5"/>
          <p:cNvSpPr/>
          <p:nvPr/>
        </p:nvSpPr>
        <p:spPr>
          <a:xfrm>
            <a:off x="803814" y="5879994"/>
            <a:ext cx="209307" cy="42238"/>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479" name="Image 3" descr="Image 3"/>
          <p:cNvPicPr>
            <a:picLocks noChangeAspect="1"/>
          </p:cNvPicPr>
          <p:nvPr/>
        </p:nvPicPr>
        <p:blipFill>
          <a:blip r:embed="rId5">
            <a:extLst/>
          </a:blip>
          <a:srcRect l="423" t="0" r="417" b="0"/>
          <a:stretch>
            <a:fillRect/>
          </a:stretch>
        </p:blipFill>
        <p:spPr>
          <a:xfrm flipH="1">
            <a:off x="7372346" y="1739900"/>
            <a:ext cx="3202311" cy="3228975"/>
          </a:xfrm>
          <a:prstGeom prst="rect">
            <a:avLst/>
          </a:prstGeom>
          <a:ln w="12700">
            <a:miter lim="400000"/>
          </a:ln>
        </p:spPr>
      </p:pic>
      <p:sp>
        <p:nvSpPr>
          <p:cNvPr id="480" name="Text 7"/>
          <p:cNvSpPr txBox="1"/>
          <p:nvPr/>
        </p:nvSpPr>
        <p:spPr>
          <a:xfrm>
            <a:off x="8209750" y="2654935"/>
            <a:ext cx="1527509" cy="13868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8500">
                <a:solidFill>
                  <a:srgbClr val="052334"/>
                </a:solidFill>
                <a:latin typeface="MiSans"/>
                <a:ea typeface="MiSans"/>
                <a:cs typeface="MiSans"/>
                <a:sym typeface="MiSans"/>
              </a:defRPr>
            </a:lvl1pPr>
          </a:lstStyle>
          <a:p>
            <a:pPr/>
            <a:r>
              <a:t>09</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482" name="Image 0" descr="Image 0"/>
          <p:cNvPicPr>
            <a:picLocks noChangeAspect="1"/>
          </p:cNvPicPr>
          <p:nvPr/>
        </p:nvPicPr>
        <p:blipFill>
          <a:blip r:embed="rId3">
            <a:alphaModFix amt="40000"/>
            <a:extLst/>
          </a:blip>
          <a:srcRect l="0" t="9705" r="0" b="9705"/>
          <a:stretch>
            <a:fillRect/>
          </a:stretch>
        </p:blipFill>
        <p:spPr>
          <a:xfrm>
            <a:off x="1151255" y="-4"/>
            <a:ext cx="3615055" cy="6858005"/>
          </a:xfrm>
          <a:prstGeom prst="rect">
            <a:avLst/>
          </a:prstGeom>
          <a:ln w="12700">
            <a:miter lim="400000"/>
          </a:ln>
        </p:spPr>
      </p:pic>
      <p:sp>
        <p:nvSpPr>
          <p:cNvPr id="483" name="Text 0"/>
          <p:cNvSpPr txBox="1"/>
          <p:nvPr/>
        </p:nvSpPr>
        <p:spPr>
          <a:xfrm>
            <a:off x="541019" y="670535"/>
            <a:ext cx="1047940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3600">
                <a:solidFill>
                  <a:srgbClr val="052334"/>
                </a:solidFill>
                <a:latin typeface="MiSans"/>
                <a:ea typeface="MiSans"/>
                <a:cs typeface="MiSans"/>
                <a:sym typeface="MiSans"/>
              </a:defRPr>
            </a:lvl1pPr>
          </a:lstStyle>
          <a:p>
            <a:pPr/>
            <a:r>
              <a:t>Future work directions</a:t>
            </a:r>
          </a:p>
        </p:txBody>
      </p:sp>
      <p:pic>
        <p:nvPicPr>
          <p:cNvPr id="484" name="Image 1" descr="Image 1"/>
          <p:cNvPicPr>
            <a:picLocks noChangeAspect="1"/>
          </p:cNvPicPr>
          <p:nvPr/>
        </p:nvPicPr>
        <p:blipFill>
          <a:blip r:embed="rId4">
            <a:extLst/>
          </a:blip>
          <a:srcRect l="447" t="0" r="447" b="0"/>
          <a:stretch>
            <a:fillRect/>
          </a:stretch>
        </p:blipFill>
        <p:spPr>
          <a:xfrm flipH="1">
            <a:off x="1316673" y="1480819"/>
            <a:ext cx="845188" cy="852806"/>
          </a:xfrm>
          <a:prstGeom prst="rect">
            <a:avLst/>
          </a:prstGeom>
          <a:ln w="12700">
            <a:miter lim="400000"/>
          </a:ln>
        </p:spPr>
      </p:pic>
      <p:pic>
        <p:nvPicPr>
          <p:cNvPr id="485" name="Image 2" descr="Image 2"/>
          <p:cNvPicPr>
            <a:picLocks noChangeAspect="1"/>
          </p:cNvPicPr>
          <p:nvPr/>
        </p:nvPicPr>
        <p:blipFill>
          <a:blip r:embed="rId4">
            <a:extLst/>
          </a:blip>
          <a:srcRect l="447" t="0" r="447" b="0"/>
          <a:stretch>
            <a:fillRect/>
          </a:stretch>
        </p:blipFill>
        <p:spPr>
          <a:xfrm flipH="1">
            <a:off x="775335" y="3171825"/>
            <a:ext cx="845185" cy="852806"/>
          </a:xfrm>
          <a:prstGeom prst="rect">
            <a:avLst/>
          </a:prstGeom>
          <a:ln w="12700">
            <a:miter lim="400000"/>
          </a:ln>
        </p:spPr>
      </p:pic>
      <p:pic>
        <p:nvPicPr>
          <p:cNvPr id="486" name="Image 3" descr="Image 3"/>
          <p:cNvPicPr>
            <a:picLocks noChangeAspect="1"/>
          </p:cNvPicPr>
          <p:nvPr/>
        </p:nvPicPr>
        <p:blipFill>
          <a:blip r:embed="rId4">
            <a:extLst/>
          </a:blip>
          <a:srcRect l="447" t="0" r="447" b="0"/>
          <a:stretch>
            <a:fillRect/>
          </a:stretch>
        </p:blipFill>
        <p:spPr>
          <a:xfrm flipH="1">
            <a:off x="1316355" y="5033009"/>
            <a:ext cx="845188" cy="852812"/>
          </a:xfrm>
          <a:prstGeom prst="rect">
            <a:avLst/>
          </a:prstGeom>
          <a:ln w="12700">
            <a:miter lim="400000"/>
          </a:ln>
        </p:spPr>
      </p:pic>
      <p:pic>
        <p:nvPicPr>
          <p:cNvPr id="487" name="Image 4" descr="Image 4"/>
          <p:cNvPicPr>
            <a:picLocks noChangeAspect="1"/>
          </p:cNvPicPr>
          <p:nvPr/>
        </p:nvPicPr>
        <p:blipFill>
          <a:blip r:embed="rId5">
            <a:alphaModFix amt="40000"/>
            <a:extLst/>
          </a:blip>
          <a:stretch>
            <a:fillRect/>
          </a:stretch>
        </p:blipFill>
        <p:spPr>
          <a:xfrm flipV="1">
            <a:off x="10775950" y="715644"/>
            <a:ext cx="762000" cy="78778"/>
          </a:xfrm>
          <a:prstGeom prst="rect">
            <a:avLst/>
          </a:prstGeom>
          <a:ln w="12700">
            <a:miter lim="400000"/>
          </a:ln>
        </p:spPr>
      </p:pic>
      <p:pic>
        <p:nvPicPr>
          <p:cNvPr id="488" name="Image 5" descr="Image 5"/>
          <p:cNvPicPr>
            <a:picLocks noChangeAspect="1"/>
          </p:cNvPicPr>
          <p:nvPr/>
        </p:nvPicPr>
        <p:blipFill>
          <a:blip r:embed="rId5">
            <a:alphaModFix amt="40000"/>
            <a:extLst/>
          </a:blip>
          <a:stretch>
            <a:fillRect/>
          </a:stretch>
        </p:blipFill>
        <p:spPr>
          <a:xfrm flipV="1">
            <a:off x="10775950" y="850868"/>
            <a:ext cx="762000" cy="78778"/>
          </a:xfrm>
          <a:prstGeom prst="rect">
            <a:avLst/>
          </a:prstGeom>
          <a:ln w="12700">
            <a:miter lim="400000"/>
          </a:ln>
        </p:spPr>
      </p:pic>
      <p:sp>
        <p:nvSpPr>
          <p:cNvPr id="489" name="Text 1"/>
          <p:cNvSpPr txBox="1"/>
          <p:nvPr/>
        </p:nvSpPr>
        <p:spPr>
          <a:xfrm>
            <a:off x="1308418" y="1671320"/>
            <a:ext cx="861695"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3200">
                <a:solidFill>
                  <a:srgbClr val="052334"/>
                </a:solidFill>
                <a:latin typeface="MiSans"/>
                <a:ea typeface="MiSans"/>
                <a:cs typeface="MiSans"/>
                <a:sym typeface="MiSans"/>
              </a:defRPr>
            </a:lvl1pPr>
          </a:lstStyle>
          <a:p>
            <a:pPr/>
            <a:r>
              <a:t>01</a:t>
            </a:r>
          </a:p>
        </p:txBody>
      </p:sp>
      <p:sp>
        <p:nvSpPr>
          <p:cNvPr id="490" name="Text 2"/>
          <p:cNvSpPr txBox="1"/>
          <p:nvPr/>
        </p:nvSpPr>
        <p:spPr>
          <a:xfrm>
            <a:off x="3521075" y="1755138"/>
            <a:ext cx="6654166"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Fix data augmentation issues</a:t>
            </a:r>
          </a:p>
        </p:txBody>
      </p:sp>
      <p:sp>
        <p:nvSpPr>
          <p:cNvPr id="491" name="Text 3"/>
          <p:cNvSpPr txBox="1"/>
          <p:nvPr/>
        </p:nvSpPr>
        <p:spPr>
          <a:xfrm>
            <a:off x="3521075" y="2136138"/>
            <a:ext cx="7795260" cy="5397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The next step is to fix the rotation enhancement dimension alignment problem and introduce more data enhancement strategies to improve the model's adaptability to complex inputs.</a:t>
            </a:r>
          </a:p>
        </p:txBody>
      </p:sp>
      <p:sp>
        <p:nvSpPr>
          <p:cNvPr id="492" name="Text 4"/>
          <p:cNvSpPr txBox="1"/>
          <p:nvPr/>
        </p:nvSpPr>
        <p:spPr>
          <a:xfrm>
            <a:off x="767079" y="3362325"/>
            <a:ext cx="861698"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3200">
                <a:solidFill>
                  <a:srgbClr val="052334"/>
                </a:solidFill>
                <a:latin typeface="MiSans"/>
                <a:ea typeface="MiSans"/>
                <a:cs typeface="MiSans"/>
                <a:sym typeface="MiSans"/>
              </a:defRPr>
            </a:lvl1pPr>
          </a:lstStyle>
          <a:p>
            <a:pPr/>
            <a:r>
              <a:t>02</a:t>
            </a:r>
          </a:p>
        </p:txBody>
      </p:sp>
      <p:sp>
        <p:nvSpPr>
          <p:cNvPr id="493" name="Text 5"/>
          <p:cNvSpPr txBox="1"/>
          <p:nvPr/>
        </p:nvSpPr>
        <p:spPr>
          <a:xfrm>
            <a:off x="2105025" y="3367721"/>
            <a:ext cx="770636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Trying a new comparison strategy</a:t>
            </a:r>
          </a:p>
        </p:txBody>
      </p:sp>
      <p:sp>
        <p:nvSpPr>
          <p:cNvPr id="494" name="Text 6"/>
          <p:cNvSpPr txBox="1"/>
          <p:nvPr/>
        </p:nvSpPr>
        <p:spPr>
          <a:xfrm>
            <a:off x="2105025" y="3746500"/>
            <a:ext cx="7795260" cy="5397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Comparison strategies such as feature difference and dot product are introduced, and combined with system hyperparameter search to further optimize model performance.</a:t>
            </a:r>
          </a:p>
        </p:txBody>
      </p:sp>
      <p:sp>
        <p:nvSpPr>
          <p:cNvPr id="495" name="Text 7"/>
          <p:cNvSpPr txBox="1"/>
          <p:nvPr/>
        </p:nvSpPr>
        <p:spPr>
          <a:xfrm>
            <a:off x="1308100" y="5223509"/>
            <a:ext cx="861695"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3200">
                <a:solidFill>
                  <a:srgbClr val="052334"/>
                </a:solidFill>
                <a:latin typeface="MiSans"/>
                <a:ea typeface="MiSans"/>
                <a:cs typeface="MiSans"/>
                <a:sym typeface="MiSans"/>
              </a:defRPr>
            </a:lvl1pPr>
          </a:lstStyle>
          <a:p>
            <a:pPr/>
            <a:r>
              <a:t>03</a:t>
            </a:r>
          </a:p>
        </p:txBody>
      </p:sp>
      <p:sp>
        <p:nvSpPr>
          <p:cNvPr id="496" name="Text 8"/>
          <p:cNvSpPr txBox="1"/>
          <p:nvPr/>
        </p:nvSpPr>
        <p:spPr>
          <a:xfrm>
            <a:off x="3408045" y="4956807"/>
            <a:ext cx="6570344"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052334"/>
                </a:solidFill>
                <a:latin typeface="MiSans"/>
                <a:ea typeface="MiSans"/>
                <a:cs typeface="MiSans"/>
                <a:sym typeface="MiSans"/>
              </a:defRPr>
            </a:lvl1pPr>
          </a:lstStyle>
          <a:p>
            <a:pPr/>
            <a:r>
              <a:t>Enhanced visual analysis</a:t>
            </a:r>
          </a:p>
        </p:txBody>
      </p:sp>
      <p:sp>
        <p:nvSpPr>
          <p:cNvPr id="497" name="Text 9"/>
          <p:cNvSpPr txBox="1"/>
          <p:nvPr/>
        </p:nvSpPr>
        <p:spPr>
          <a:xfrm>
            <a:off x="3408045" y="5356859"/>
            <a:ext cx="7794626" cy="5397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just">
              <a:lnSpc>
                <a:spcPct val="150000"/>
              </a:lnSpc>
              <a:defRPr sz="1400">
                <a:solidFill>
                  <a:srgbClr val="262626"/>
                </a:solidFill>
                <a:latin typeface="MiSans"/>
                <a:ea typeface="MiSans"/>
                <a:cs typeface="MiSans"/>
                <a:sym typeface="MiSans"/>
              </a:defRPr>
            </a:lvl1pPr>
          </a:lstStyle>
          <a:p>
            <a:pPr/>
            <a:r>
              <a:t>By adding interpretable visualization and observing the focus areas of the residual blocks, we can further verify the basis for model decisions and continue to move towards an accuracy rate of 80%.</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499" name="Shape 0"/>
          <p:cNvSpPr/>
          <p:nvPr/>
        </p:nvSpPr>
        <p:spPr>
          <a:xfrm>
            <a:off x="419100" y="2237738"/>
            <a:ext cx="7735569" cy="2007874"/>
          </a:xfrm>
          <a:prstGeom prst="rect">
            <a:avLst/>
          </a:prstGeom>
          <a:gradFill>
            <a:gsLst>
              <a:gs pos="0">
                <a:srgbClr val="FFFFFF">
                  <a:alpha val="46000"/>
                </a:srgbClr>
              </a:gs>
              <a:gs pos="30000">
                <a:srgbClr val="F9FBFD">
                  <a:alpha val="69000"/>
                </a:srgbClr>
              </a:gs>
              <a:gs pos="82000">
                <a:srgbClr val="FFFFFF">
                  <a:alpha val="0"/>
                </a:srgbClr>
              </a:gs>
              <a:gs pos="100000">
                <a:srgbClr val="FFFFFF">
                  <a:alpha val="0"/>
                </a:srgbClr>
              </a:gs>
            </a:gsLst>
          </a:gradFill>
          <a:ln w="12700">
            <a:miter lim="400000"/>
          </a:ln>
        </p:spPr>
        <p:txBody>
          <a:bodyPr lIns="45718" tIns="45718" rIns="45718" bIns="45718"/>
          <a:lstStyle/>
          <a:p>
            <a:pPr>
              <a:defRPr>
                <a:latin typeface="Calibri"/>
                <a:ea typeface="Calibri"/>
                <a:cs typeface="Calibri"/>
                <a:sym typeface="Calibri"/>
              </a:defRPr>
            </a:pPr>
          </a:p>
        </p:txBody>
      </p:sp>
      <p:sp>
        <p:nvSpPr>
          <p:cNvPr id="500" name="Shape 2"/>
          <p:cNvSpPr/>
          <p:nvPr/>
        </p:nvSpPr>
        <p:spPr>
          <a:xfrm>
            <a:off x="732358" y="810668"/>
            <a:ext cx="209307" cy="42238"/>
          </a:xfrm>
          <a:prstGeom prst="rect">
            <a:avLst/>
          </a:prstGeom>
          <a:solidFill>
            <a:srgbClr val="808080"/>
          </a:solidFill>
          <a:ln w="19050">
            <a:solidFill>
              <a:srgbClr val="808080"/>
            </a:solidFill>
          </a:ln>
        </p:spPr>
        <p:txBody>
          <a:bodyPr lIns="45718" tIns="45718" rIns="45718" bIns="45718"/>
          <a:lstStyle/>
          <a:p>
            <a:pPr>
              <a:defRPr>
                <a:latin typeface="Calibri"/>
                <a:ea typeface="Calibri"/>
                <a:cs typeface="Calibri"/>
                <a:sym typeface="Calibri"/>
              </a:defRPr>
            </a:pPr>
          </a:p>
        </p:txBody>
      </p:sp>
      <p:sp>
        <p:nvSpPr>
          <p:cNvPr id="501" name="Shape 4"/>
          <p:cNvSpPr/>
          <p:nvPr/>
        </p:nvSpPr>
        <p:spPr>
          <a:xfrm>
            <a:off x="732358" y="907644"/>
            <a:ext cx="209307" cy="42238"/>
          </a:xfrm>
          <a:prstGeom prst="rect">
            <a:avLst/>
          </a:prstGeom>
          <a:solidFill>
            <a:srgbClr val="808080"/>
          </a:solidFill>
          <a:ln w="19050">
            <a:solidFill>
              <a:srgbClr val="808080"/>
            </a:solidFill>
          </a:ln>
        </p:spPr>
        <p:txBody>
          <a:bodyPr lIns="45718" tIns="45718" rIns="45718" bIns="45718"/>
          <a:lstStyle/>
          <a:p>
            <a:pPr>
              <a:defRPr>
                <a:latin typeface="Calibri"/>
                <a:ea typeface="Calibri"/>
                <a:cs typeface="Calibri"/>
                <a:sym typeface="Calibri"/>
              </a:defRPr>
            </a:pPr>
          </a:p>
        </p:txBody>
      </p:sp>
      <p:sp>
        <p:nvSpPr>
          <p:cNvPr id="502" name="Shape 6"/>
          <p:cNvSpPr/>
          <p:nvPr/>
        </p:nvSpPr>
        <p:spPr>
          <a:xfrm>
            <a:off x="732358" y="1004618"/>
            <a:ext cx="209307" cy="42238"/>
          </a:xfrm>
          <a:prstGeom prst="rect">
            <a:avLst/>
          </a:prstGeom>
          <a:solidFill>
            <a:srgbClr val="808080"/>
          </a:solidFill>
          <a:ln w="19050">
            <a:solidFill>
              <a:srgbClr val="808080"/>
            </a:solidFill>
          </a:ln>
        </p:spPr>
        <p:txBody>
          <a:bodyPr lIns="45718" tIns="45718" rIns="45718" bIns="45718"/>
          <a:lstStyle/>
          <a:p>
            <a:pPr>
              <a:defRPr>
                <a:latin typeface="Calibri"/>
                <a:ea typeface="Calibri"/>
                <a:cs typeface="Calibri"/>
                <a:sym typeface="Calibri"/>
              </a:defRPr>
            </a:pPr>
          </a:p>
        </p:txBody>
      </p:sp>
      <p:pic>
        <p:nvPicPr>
          <p:cNvPr id="503" name="Image 0" descr="Image 0"/>
          <p:cNvPicPr>
            <a:picLocks noChangeAspect="1"/>
          </p:cNvPicPr>
          <p:nvPr/>
        </p:nvPicPr>
        <p:blipFill>
          <a:blip r:embed="rId3">
            <a:alphaModFix amt="40000"/>
            <a:extLst/>
          </a:blip>
          <a:stretch>
            <a:fillRect/>
          </a:stretch>
        </p:blipFill>
        <p:spPr>
          <a:xfrm rot="16200000">
            <a:off x="10665459" y="330200"/>
            <a:ext cx="262897" cy="1170306"/>
          </a:xfrm>
          <a:prstGeom prst="rect">
            <a:avLst/>
          </a:prstGeom>
          <a:ln w="12700">
            <a:miter lim="400000"/>
          </a:ln>
        </p:spPr>
      </p:pic>
      <p:sp>
        <p:nvSpPr>
          <p:cNvPr id="504" name="Shape 8"/>
          <p:cNvSpPr/>
          <p:nvPr/>
        </p:nvSpPr>
        <p:spPr>
          <a:xfrm>
            <a:off x="531495" y="5934371"/>
            <a:ext cx="4345305" cy="331477"/>
          </a:xfrm>
          <a:prstGeom prst="rect">
            <a:avLst/>
          </a:prstGeom>
          <a:solidFill>
            <a:srgbClr val="000000">
              <a:alpha val="0"/>
            </a:srgbClr>
          </a:solidFill>
          <a:ln w="12700">
            <a:miter lim="400000"/>
          </a:ln>
        </p:spPr>
        <p:txBody>
          <a:bodyPr lIns="45718" tIns="45718" rIns="45718" bIns="45718"/>
          <a:lstStyle/>
          <a:p>
            <a:pPr>
              <a:defRPr>
                <a:latin typeface="Calibri"/>
                <a:ea typeface="Calibri"/>
                <a:cs typeface="Calibri"/>
                <a:sym typeface="Calibri"/>
              </a:defRPr>
            </a:pPr>
          </a:p>
        </p:txBody>
      </p:sp>
      <p:sp>
        <p:nvSpPr>
          <p:cNvPr id="505" name="Shape 11"/>
          <p:cNvSpPr/>
          <p:nvPr/>
        </p:nvSpPr>
        <p:spPr>
          <a:xfrm>
            <a:off x="2339262" y="5982679"/>
            <a:ext cx="6941819" cy="5"/>
          </a:xfrm>
          <a:prstGeom prst="line">
            <a:avLst/>
          </a:prstGeom>
          <a:ln>
            <a:solidFill>
              <a:srgbClr val="000000">
                <a:alpha val="21961"/>
              </a:srgbClr>
            </a:solidFill>
          </a:ln>
        </p:spPr>
        <p:txBody>
          <a:bodyPr lIns="45718" tIns="45718" rIns="45718" bIns="45718"/>
          <a:lstStyle/>
          <a:p>
            <a:pPr/>
          </a:p>
        </p:txBody>
      </p:sp>
      <p:sp>
        <p:nvSpPr>
          <p:cNvPr id="506" name="Shape 12"/>
          <p:cNvSpPr/>
          <p:nvPr/>
        </p:nvSpPr>
        <p:spPr>
          <a:xfrm>
            <a:off x="626745" y="3177538"/>
            <a:ext cx="11033760" cy="893449"/>
          </a:xfrm>
          <a:prstGeom prst="rect">
            <a:avLst/>
          </a:prstGeom>
          <a:solidFill>
            <a:srgbClr val="000000">
              <a:alpha val="0"/>
            </a:srgbClr>
          </a:solidFill>
          <a:ln w="12700">
            <a:miter lim="400000"/>
          </a:ln>
        </p:spPr>
        <p:txBody>
          <a:bodyPr lIns="45718" tIns="45718" rIns="45718" bIns="45718"/>
          <a:lstStyle/>
          <a:p>
            <a:pPr>
              <a:defRPr>
                <a:latin typeface="Calibri"/>
                <a:ea typeface="Calibri"/>
                <a:cs typeface="Calibri"/>
                <a:sym typeface="Calibri"/>
              </a:defRPr>
            </a:pPr>
          </a:p>
        </p:txBody>
      </p:sp>
      <p:sp>
        <p:nvSpPr>
          <p:cNvPr id="507" name="Shape 14"/>
          <p:cNvSpPr/>
          <p:nvPr/>
        </p:nvSpPr>
        <p:spPr>
          <a:xfrm>
            <a:off x="626745" y="2440302"/>
            <a:ext cx="9281795" cy="709302"/>
          </a:xfrm>
          <a:prstGeom prst="rect">
            <a:avLst/>
          </a:prstGeom>
          <a:solidFill>
            <a:srgbClr val="000000">
              <a:alpha val="0"/>
            </a:srgbClr>
          </a:solidFill>
          <a:ln w="12700">
            <a:miter lim="400000"/>
          </a:ln>
        </p:spPr>
        <p:txBody>
          <a:bodyPr lIns="45718" tIns="45718" rIns="45718" bIns="45718"/>
          <a:lstStyle/>
          <a:p>
            <a:pPr>
              <a:defRPr>
                <a:latin typeface="Calibri"/>
                <a:ea typeface="Calibri"/>
                <a:cs typeface="Calibri"/>
                <a:sym typeface="Calibri"/>
              </a:defRPr>
            </a:pPr>
          </a:p>
        </p:txBody>
      </p:sp>
      <p:sp>
        <p:nvSpPr>
          <p:cNvPr id="508" name="Text 15"/>
          <p:cNvSpPr txBox="1"/>
          <p:nvPr/>
        </p:nvSpPr>
        <p:spPr>
          <a:xfrm>
            <a:off x="626744" y="2486661"/>
            <a:ext cx="9236076" cy="6629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b">
            <a:spAutoFit/>
          </a:bodyPr>
          <a:lstStyle>
            <a:lvl1pPr>
              <a:lnSpc>
                <a:spcPct val="130000"/>
              </a:lnSpc>
              <a:defRPr sz="3200">
                <a:solidFill>
                  <a:srgbClr val="052334"/>
                </a:solidFill>
                <a:latin typeface="MiSans"/>
                <a:ea typeface="MiSans"/>
                <a:cs typeface="MiSans"/>
                <a:sym typeface="MiSans"/>
              </a:defRPr>
            </a:lvl1pPr>
          </a:lstStyle>
          <a:p>
            <a:pPr/>
            <a:r>
              <a:t>THANK YOU FOR READING！</a:t>
            </a:r>
          </a:p>
        </p:txBody>
      </p:sp>
      <p:pic>
        <p:nvPicPr>
          <p:cNvPr id="509" name="Image 1" descr="Image 1"/>
          <p:cNvPicPr>
            <a:picLocks noChangeAspect="1"/>
          </p:cNvPicPr>
          <p:nvPr/>
        </p:nvPicPr>
        <p:blipFill>
          <a:blip r:embed="rId4">
            <a:extLst/>
          </a:blip>
          <a:srcRect l="21" t="0" r="22" b="0"/>
          <a:stretch>
            <a:fillRect/>
          </a:stretch>
        </p:blipFill>
        <p:spPr>
          <a:xfrm>
            <a:off x="6485254" y="1143635"/>
            <a:ext cx="4897121" cy="4398646"/>
          </a:xfrm>
          <a:prstGeom prst="rect">
            <a:avLst/>
          </a:prstGeom>
          <a:ln w="12700">
            <a:miter lim="400000"/>
          </a:ln>
        </p:spPr>
      </p:pic>
      <p:sp>
        <p:nvSpPr>
          <p:cNvPr id="510" name="Shape 16"/>
          <p:cNvSpPr/>
          <p:nvPr/>
        </p:nvSpPr>
        <p:spPr>
          <a:xfrm>
            <a:off x="7009765" y="3731259"/>
            <a:ext cx="1975489" cy="1325882"/>
          </a:xfrm>
          <a:prstGeom prst="rect">
            <a:avLst/>
          </a:prstGeom>
          <a:solidFill>
            <a:srgbClr val="000000">
              <a:alpha val="0"/>
            </a:srgbClr>
          </a:solidFill>
          <a:ln w="12700">
            <a:miter lim="400000"/>
          </a:ln>
        </p:spPr>
        <p:txBody>
          <a:bodyPr lIns="45718" tIns="45718" rIns="45718" bIns="45718"/>
          <a:lstStyle/>
          <a:p>
            <a:pPr>
              <a:defRPr>
                <a:latin typeface="Calibri"/>
                <a:ea typeface="Calibri"/>
                <a:cs typeface="Calibri"/>
                <a:sym typeface="Calibri"/>
              </a:defRPr>
            </a:pPr>
          </a:p>
        </p:txBody>
      </p:sp>
      <p:sp>
        <p:nvSpPr>
          <p:cNvPr id="511" name="Text 17"/>
          <p:cNvSpPr txBox="1"/>
          <p:nvPr/>
        </p:nvSpPr>
        <p:spPr>
          <a:xfrm>
            <a:off x="7009765" y="3855718"/>
            <a:ext cx="1929766" cy="120141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b">
            <a:spAutoFit/>
          </a:bodyPr>
          <a:lstStyle>
            <a:lvl1pPr>
              <a:lnSpc>
                <a:spcPct val="130000"/>
              </a:lnSpc>
              <a:defRPr sz="3200">
                <a:solidFill>
                  <a:srgbClr val="FFFFFF"/>
                </a:solidFill>
                <a:latin typeface="MiSans"/>
                <a:ea typeface="MiSans"/>
                <a:cs typeface="MiSans"/>
                <a:sym typeface="MiSans"/>
              </a:defRPr>
            </a:lvl1pPr>
          </a:lstStyle>
          <a:p>
            <a:pPr/>
            <a:r>
              <a:t>THANK YOU</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513" name="Shape 1"/>
          <p:cNvSpPr/>
          <p:nvPr/>
        </p:nvSpPr>
        <p:spPr>
          <a:xfrm>
            <a:off x="9318545" y="6332566"/>
            <a:ext cx="2063753" cy="7"/>
          </a:xfrm>
          <a:prstGeom prst="line">
            <a:avLst/>
          </a:prstGeom>
          <a:ln>
            <a:solidFill>
              <a:srgbClr val="000000">
                <a:alpha val="21961"/>
              </a:srgbClr>
            </a:solidFill>
          </a:ln>
        </p:spPr>
        <p:txBody>
          <a:bodyPr lIns="45718" tIns="45718" rIns="45718" bIns="45718"/>
          <a:lstStyle/>
          <a:p>
            <a:pPr/>
          </a:p>
        </p:txBody>
      </p:sp>
      <p:pic>
        <p:nvPicPr>
          <p:cNvPr id="514" name="Image 0" descr="Image 0"/>
          <p:cNvPicPr>
            <a:picLocks noChangeAspect="1"/>
          </p:cNvPicPr>
          <p:nvPr/>
        </p:nvPicPr>
        <p:blipFill>
          <a:blip r:embed="rId3">
            <a:alphaModFix amt="40000"/>
            <a:extLst/>
          </a:blip>
          <a:stretch>
            <a:fillRect/>
          </a:stretch>
        </p:blipFill>
        <p:spPr>
          <a:xfrm flipV="1">
            <a:off x="10896600" y="715644"/>
            <a:ext cx="762000" cy="78820"/>
          </a:xfrm>
          <a:prstGeom prst="rect">
            <a:avLst/>
          </a:prstGeom>
          <a:ln w="12700">
            <a:miter lim="400000"/>
          </a:ln>
        </p:spPr>
      </p:pic>
      <p:pic>
        <p:nvPicPr>
          <p:cNvPr id="515" name="Image 1" descr="Image 1"/>
          <p:cNvPicPr>
            <a:picLocks noChangeAspect="1"/>
          </p:cNvPicPr>
          <p:nvPr/>
        </p:nvPicPr>
        <p:blipFill>
          <a:blip r:embed="rId3">
            <a:alphaModFix amt="40000"/>
            <a:extLst/>
          </a:blip>
          <a:stretch>
            <a:fillRect/>
          </a:stretch>
        </p:blipFill>
        <p:spPr>
          <a:xfrm flipV="1">
            <a:off x="10896600" y="850940"/>
            <a:ext cx="762000" cy="78820"/>
          </a:xfrm>
          <a:prstGeom prst="rect">
            <a:avLst/>
          </a:prstGeom>
          <a:ln w="12700">
            <a:miter lim="400000"/>
          </a:ln>
        </p:spPr>
      </p:pic>
      <p:sp>
        <p:nvSpPr>
          <p:cNvPr id="516" name="Shape 2"/>
          <p:cNvSpPr/>
          <p:nvPr/>
        </p:nvSpPr>
        <p:spPr>
          <a:xfrm>
            <a:off x="803909" y="5969156"/>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517" name="Shape 4"/>
          <p:cNvSpPr/>
          <p:nvPr/>
        </p:nvSpPr>
        <p:spPr>
          <a:xfrm>
            <a:off x="803909" y="6069472"/>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sp>
        <p:nvSpPr>
          <p:cNvPr id="518" name="Shape 6"/>
          <p:cNvSpPr/>
          <p:nvPr/>
        </p:nvSpPr>
        <p:spPr>
          <a:xfrm>
            <a:off x="803909" y="6169788"/>
            <a:ext cx="209555" cy="43693"/>
          </a:xfrm>
          <a:prstGeom prst="rect">
            <a:avLst/>
          </a:prstGeom>
          <a:solidFill>
            <a:srgbClr val="000000"/>
          </a:solidFill>
          <a:ln w="19050">
            <a:solidFill>
              <a:srgbClr val="000000"/>
            </a:solidFill>
          </a:ln>
        </p:spPr>
        <p:txBody>
          <a:bodyPr lIns="45718" tIns="45718" rIns="45718" bIns="45718"/>
          <a:lstStyle/>
          <a:p>
            <a:pPr>
              <a:defRPr>
                <a:latin typeface="Calibri"/>
                <a:ea typeface="Calibri"/>
                <a:cs typeface="Calibri"/>
                <a:sym typeface="Calibri"/>
              </a:defRPr>
            </a:pPr>
          </a:p>
        </p:txBody>
      </p:sp>
      <p:pic>
        <p:nvPicPr>
          <p:cNvPr id="519" name="图片 16" descr="图片 16"/>
          <p:cNvPicPr>
            <a:picLocks noChangeAspect="1"/>
          </p:cNvPicPr>
          <p:nvPr/>
        </p:nvPicPr>
        <p:blipFill>
          <a:blip r:embed="rId4">
            <a:extLst/>
          </a:blip>
          <a:stretch>
            <a:fillRect/>
          </a:stretch>
        </p:blipFill>
        <p:spPr>
          <a:xfrm>
            <a:off x="507713" y="907919"/>
            <a:ext cx="11176576" cy="504216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Custom Theme">
  <a:themeElements>
    <a:clrScheme name="Custom Theme">
      <a:dk1>
        <a:srgbClr val="000000"/>
      </a:dk1>
      <a:lt1>
        <a:srgbClr val="FFFFFF"/>
      </a:lt1>
      <a:dk2>
        <a:srgbClr val="A7A7A7"/>
      </a:dk2>
      <a:lt2>
        <a:srgbClr val="535353"/>
      </a:lt2>
      <a:accent1>
        <a:srgbClr val="4874CB"/>
      </a:accent1>
      <a:accent2>
        <a:srgbClr val="EE822F"/>
      </a:accent2>
      <a:accent3>
        <a:srgbClr val="F2BA02"/>
      </a:accent3>
      <a:accent4>
        <a:srgbClr val="75BD42"/>
      </a:accent4>
      <a:accent5>
        <a:srgbClr val="30C0B4"/>
      </a:accent5>
      <a:accent6>
        <a:srgbClr val="E54C5E"/>
      </a:accent6>
      <a:hlink>
        <a:srgbClr val="0000FF"/>
      </a:hlink>
      <a:folHlink>
        <a:srgbClr val="FF00FF"/>
      </a:folHlink>
    </a:clrScheme>
    <a:fontScheme name="Custom Theme">
      <a:majorFont>
        <a:latin typeface="Helvetica"/>
        <a:ea typeface="Helvetica"/>
        <a:cs typeface="Helvetica"/>
      </a:majorFont>
      <a:minorFont>
        <a:latin typeface="等线"/>
        <a:ea typeface="等线"/>
        <a:cs typeface="等线"/>
      </a:minorFont>
    </a:fontScheme>
    <a:fmtScheme name="Custom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ustom Theme">
  <a:themeElements>
    <a:clrScheme name="Custom Theme">
      <a:dk1>
        <a:srgbClr val="000000"/>
      </a:dk1>
      <a:lt1>
        <a:srgbClr val="FFFFFF"/>
      </a:lt1>
      <a:dk2>
        <a:srgbClr val="A7A7A7"/>
      </a:dk2>
      <a:lt2>
        <a:srgbClr val="535353"/>
      </a:lt2>
      <a:accent1>
        <a:srgbClr val="4874CB"/>
      </a:accent1>
      <a:accent2>
        <a:srgbClr val="EE822F"/>
      </a:accent2>
      <a:accent3>
        <a:srgbClr val="F2BA02"/>
      </a:accent3>
      <a:accent4>
        <a:srgbClr val="75BD42"/>
      </a:accent4>
      <a:accent5>
        <a:srgbClr val="30C0B4"/>
      </a:accent5>
      <a:accent6>
        <a:srgbClr val="E54C5E"/>
      </a:accent6>
      <a:hlink>
        <a:srgbClr val="0000FF"/>
      </a:hlink>
      <a:folHlink>
        <a:srgbClr val="FF00FF"/>
      </a:folHlink>
    </a:clrScheme>
    <a:fontScheme name="Custom Theme">
      <a:majorFont>
        <a:latin typeface="Helvetica"/>
        <a:ea typeface="Helvetica"/>
        <a:cs typeface="Helvetica"/>
      </a:majorFont>
      <a:minorFont>
        <a:latin typeface="等线"/>
        <a:ea typeface="等线"/>
        <a:cs typeface="等线"/>
      </a:minorFont>
    </a:fontScheme>
    <a:fmtScheme name="Custom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等线"/>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